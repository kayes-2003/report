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4" r:id="rId12"/>
    <p:sldId id="308" r:id="rId13"/>
    <p:sldId id="305" r:id="rId14"/>
    <p:sldId id="309" r:id="rId15"/>
    <p:sldId id="310" r:id="rId16"/>
    <p:sldId id="311" r:id="rId17"/>
    <p:sldId id="312" r:id="rId18"/>
    <p:sldId id="313" r:id="rId19"/>
    <p:sldId id="315" r:id="rId20"/>
    <p:sldId id="314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01" r:id="rId41"/>
    <p:sldId id="339" r:id="rId42"/>
    <p:sldId id="302" r:id="rId43"/>
    <p:sldId id="303" r:id="rId44"/>
    <p:sldId id="258" r:id="rId45"/>
    <p:sldId id="259" r:id="rId46"/>
    <p:sldId id="260" r:id="rId47"/>
    <p:sldId id="278" r:id="rId48"/>
    <p:sldId id="279" r:id="rId49"/>
    <p:sldId id="277" r:id="rId50"/>
    <p:sldId id="261" r:id="rId51"/>
    <p:sldId id="284" r:id="rId52"/>
    <p:sldId id="262" r:id="rId53"/>
    <p:sldId id="263" r:id="rId54"/>
    <p:sldId id="280" r:id="rId55"/>
    <p:sldId id="264" r:id="rId56"/>
    <p:sldId id="285" r:id="rId57"/>
    <p:sldId id="288" r:id="rId58"/>
    <p:sldId id="265" r:id="rId59"/>
    <p:sldId id="266" r:id="rId60"/>
    <p:sldId id="267" r:id="rId61"/>
    <p:sldId id="268" r:id="rId62"/>
    <p:sldId id="269" r:id="rId63"/>
    <p:sldId id="289" r:id="rId64"/>
    <p:sldId id="270" r:id="rId65"/>
    <p:sldId id="281" r:id="rId66"/>
    <p:sldId id="282" r:id="rId67"/>
    <p:sldId id="271" r:id="rId68"/>
    <p:sldId id="287" r:id="rId69"/>
    <p:sldId id="283" r:id="rId70"/>
    <p:sldId id="272" r:id="rId71"/>
    <p:sldId id="273" r:id="rId72"/>
    <p:sldId id="274" r:id="rId73"/>
    <p:sldId id="275" r:id="rId7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93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1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73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3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17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32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19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95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25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07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5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95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3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79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374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694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7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34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008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77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44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278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487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29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039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51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577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717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60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26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000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202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692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553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584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517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278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365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963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80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773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00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354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060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045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014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057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4237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14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4165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498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1413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5E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9431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2C39A"/>
                </a:solidFill>
              </a:rPr>
              <a:t>DEMOGRAPHIC &amp; HEALTH SURVEY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Univariate Analysis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of Survey Data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Integrating Bayesian Hierarchical Models for Predicting non-communicable diseases among Women in Bangladesh: Evidence from BDHS 2022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64592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smtClean="0">
                <a:solidFill>
                  <a:srgbClr val="7B93C4"/>
                </a:solidFill>
              </a:rPr>
              <a:t>[Syed </a:t>
            </a:r>
            <a:r>
              <a:rPr lang="en-US" sz="1000" dirty="0" err="1" smtClean="0">
                <a:solidFill>
                  <a:srgbClr val="7B93C4"/>
                </a:solidFill>
              </a:rPr>
              <a:t>Kayes</a:t>
            </a:r>
            <a:r>
              <a:rPr lang="en-US" sz="1000" dirty="0" smtClean="0">
                <a:solidFill>
                  <a:srgbClr val="7B93C4"/>
                </a:solidFill>
              </a:rPr>
              <a:t> Mahmud </a:t>
            </a:r>
            <a:r>
              <a:rPr lang="en-US" sz="1000" dirty="0">
                <a:solidFill>
                  <a:srgbClr val="7B93C4"/>
                </a:solidFill>
              </a:rPr>
              <a:t>/ </a:t>
            </a:r>
            <a:r>
              <a:rPr lang="en-US" sz="1000" dirty="0" smtClean="0">
                <a:solidFill>
                  <a:srgbClr val="7B93C4"/>
                </a:solidFill>
              </a:rPr>
              <a:t>Department of </a:t>
            </a:r>
            <a:r>
              <a:rPr lang="en-US" sz="1000" dirty="0" err="1" smtClean="0">
                <a:solidFill>
                  <a:srgbClr val="7B93C4"/>
                </a:solidFill>
              </a:rPr>
              <a:t>satistics</a:t>
            </a:r>
            <a:r>
              <a:rPr lang="en-US" sz="1000" dirty="0" smtClean="0">
                <a:solidFill>
                  <a:srgbClr val="7B93C4"/>
                </a:solidFill>
              </a:rPr>
              <a:t> and data science]  </a:t>
            </a:r>
            <a:r>
              <a:rPr lang="en-US" sz="1000" dirty="0">
                <a:solidFill>
                  <a:srgbClr val="7B93C4"/>
                </a:solidFill>
              </a:rPr>
              <a:t>|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155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Background &amp; Dataset 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Household Characteristics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93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Socioeconomic Indicators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1155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49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Women's Health &amp; Nutrition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Reproductive &amp; Maternal Health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493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C39A"/>
                </a:solidFill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492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Summary &amp; Key Findings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smtClean="0">
                <a:solidFill>
                  <a:srgbClr val="1B2F5E"/>
                </a:solidFill>
              </a:rPr>
              <a:t>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1878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Rectangle 6"/>
          <p:cNvSpPr/>
          <p:nvPr/>
        </p:nvSpPr>
        <p:spPr>
          <a:xfrm>
            <a:off x="2286000" y="652711"/>
            <a:ext cx="494071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Observations:        30,078                  </a:t>
            </a:r>
          </a:p>
          <a:p>
            <a:r>
              <a:rPr lang="en-US" sz="1000" dirty="0"/>
              <a:t>    Variables:            21                  </a:t>
            </a:r>
          </a:p>
          <a:p>
            <a:r>
              <a:rPr lang="en-US" sz="1000" dirty="0"/>
              <a:t>-----------------------------------------------------------------------------------------------------------------------</a:t>
            </a:r>
          </a:p>
          <a:p>
            <a:r>
              <a:rPr lang="en-US" sz="1000" dirty="0"/>
              <a:t>Variable      Storage   Display    Value</a:t>
            </a:r>
          </a:p>
          <a:p>
            <a:r>
              <a:rPr lang="en-US" sz="1000" dirty="0"/>
              <a:t>    name         type    format    label      Variable label</a:t>
            </a:r>
          </a:p>
          <a:p>
            <a:r>
              <a:rPr lang="en-US" sz="1000" dirty="0"/>
              <a:t>-----------------------------------------------------------------------------------------------------------------------</a:t>
            </a:r>
          </a:p>
          <a:p>
            <a:r>
              <a:rPr lang="en-US" sz="1000" dirty="0"/>
              <a:t>v002            </a:t>
            </a:r>
            <a:r>
              <a:rPr lang="en-US" sz="1000" dirty="0" err="1"/>
              <a:t>int</a:t>
            </a:r>
            <a:r>
              <a:rPr lang="en-US" sz="1000" dirty="0"/>
              <a:t>     %8.0g                 household number</a:t>
            </a:r>
          </a:p>
          <a:p>
            <a:r>
              <a:rPr lang="en-US" sz="1000" dirty="0"/>
              <a:t>v005            long    %12.0g                women's individual sample weight (6 decimals)</a:t>
            </a:r>
          </a:p>
          <a:p>
            <a:r>
              <a:rPr lang="en-US" sz="1000" dirty="0"/>
              <a:t>v024            byte    %8.0g      V024       division</a:t>
            </a:r>
          </a:p>
          <a:p>
            <a:r>
              <a:rPr lang="en-US" sz="1000" dirty="0"/>
              <a:t>v025            byte    %8.0g      V025       type of place of residence</a:t>
            </a:r>
          </a:p>
          <a:p>
            <a:r>
              <a:rPr lang="en-US" sz="1000" dirty="0"/>
              <a:t>v106            byte    %8.0g      V106       highest educational level</a:t>
            </a:r>
          </a:p>
          <a:p>
            <a:r>
              <a:rPr lang="en-US" sz="1000" dirty="0"/>
              <a:t>v119            byte    %8.0g      V119       household has: electricity</a:t>
            </a:r>
          </a:p>
          <a:p>
            <a:r>
              <a:rPr lang="en-US" sz="1000" dirty="0"/>
              <a:t>v121            byte    %8.0g      V121       household has: television</a:t>
            </a:r>
          </a:p>
          <a:p>
            <a:r>
              <a:rPr lang="en-US" sz="1000" dirty="0"/>
              <a:t>v151            byte    %8.0g      V151       sex of household head</a:t>
            </a:r>
          </a:p>
          <a:p>
            <a:r>
              <a:rPr lang="en-US" sz="1000" dirty="0" err="1"/>
              <a:t>awfactw</a:t>
            </a:r>
            <a:r>
              <a:rPr lang="en-US" sz="1000" dirty="0"/>
              <a:t>         </a:t>
            </a:r>
            <a:r>
              <a:rPr lang="en-US" sz="1000" dirty="0" err="1"/>
              <a:t>int</a:t>
            </a:r>
            <a:r>
              <a:rPr lang="en-US" sz="1000" dirty="0"/>
              <a:t>     %8.0g                 all woman factor - wealth index</a:t>
            </a:r>
          </a:p>
          <a:p>
            <a:r>
              <a:rPr lang="en-US" sz="1000" dirty="0"/>
              <a:t>v171a           byte    %8.0g      V171A      use of internet</a:t>
            </a:r>
          </a:p>
          <a:p>
            <a:r>
              <a:rPr lang="en-US" sz="1000" dirty="0"/>
              <a:t>v176            byte    %8.0g      V176       </a:t>
            </a:r>
            <a:r>
              <a:rPr lang="en-US" sz="1000" dirty="0" err="1"/>
              <a:t>na</a:t>
            </a:r>
            <a:r>
              <a:rPr lang="en-US" sz="1000" dirty="0"/>
              <a:t> - self reported health status</a:t>
            </a:r>
          </a:p>
          <a:p>
            <a:r>
              <a:rPr lang="en-US" sz="1000" dirty="0"/>
              <a:t>v190            byte    %8.0g      V190       wealth index combined</a:t>
            </a:r>
          </a:p>
          <a:p>
            <a:r>
              <a:rPr lang="en-US" sz="1000" dirty="0"/>
              <a:t>b0_01           byte    %8.0g      B0_01      child is twin</a:t>
            </a:r>
          </a:p>
          <a:p>
            <a:r>
              <a:rPr lang="en-US" sz="1000" dirty="0"/>
              <a:t>b15_01          byte    %8.0g      B15_01     live birth between births</a:t>
            </a:r>
          </a:p>
          <a:p>
            <a:r>
              <a:rPr lang="en-US" sz="1000" dirty="0"/>
              <a:t>pidxb_20        byte    %8.0g      PIDXB_20   index to birth history</a:t>
            </a:r>
          </a:p>
          <a:p>
            <a:r>
              <a:rPr lang="en-US" sz="1000" dirty="0"/>
              <a:t>m13_1           byte    %8.0g      M13_1      timing of 1st antenatal check (months)</a:t>
            </a:r>
          </a:p>
          <a:p>
            <a:r>
              <a:rPr lang="en-US" sz="1000" dirty="0"/>
              <a:t>hw73_1          </a:t>
            </a:r>
            <a:r>
              <a:rPr lang="en-US" sz="1000" dirty="0" err="1"/>
              <a:t>int</a:t>
            </a:r>
            <a:r>
              <a:rPr lang="en-US" sz="1000" dirty="0"/>
              <a:t>     %8.0g      HW73_1     </a:t>
            </a:r>
            <a:r>
              <a:rPr lang="en-US" sz="1000" dirty="0" err="1"/>
              <a:t>bmi</a:t>
            </a:r>
            <a:r>
              <a:rPr lang="en-US" sz="1000" dirty="0"/>
              <a:t> standard deviation (new who)</a:t>
            </a:r>
          </a:p>
          <a:p>
            <a:r>
              <a:rPr lang="en-US" sz="1000" dirty="0"/>
              <a:t>v456            byte    %8.0g                 </a:t>
            </a:r>
            <a:r>
              <a:rPr lang="en-US" sz="1000" dirty="0" err="1"/>
              <a:t>na</a:t>
            </a:r>
            <a:r>
              <a:rPr lang="en-US" sz="1000" dirty="0"/>
              <a:t> - hemoglobin level adjusted for altitude and smoking (g/dl - 1</a:t>
            </a:r>
          </a:p>
          <a:p>
            <a:r>
              <a:rPr lang="en-US" sz="1000" dirty="0"/>
              <a:t>                                                decimal)</a:t>
            </a:r>
          </a:p>
          <a:p>
            <a:r>
              <a:rPr lang="en-US" sz="1000" dirty="0"/>
              <a:t>v501            byte    %8.0g      V501       current marital status</a:t>
            </a:r>
          </a:p>
          <a:p>
            <a:r>
              <a:rPr lang="en-US" sz="1000" dirty="0"/>
              <a:t>v714a           byte    %8.0g      V714A      respondent has a job, but currently absent</a:t>
            </a:r>
          </a:p>
          <a:p>
            <a:r>
              <a:rPr lang="en-US" sz="1000" dirty="0"/>
              <a:t>v745b           byte    %8.0g      V745B      owns land alone or jointly</a:t>
            </a:r>
          </a:p>
        </p:txBody>
      </p:sp>
    </p:spTree>
    <p:extLst>
      <p:ext uri="{BB962C8B-B14F-4D97-AF65-F5344CB8AC3E}">
        <p14:creationId xmlns:p14="http://schemas.microsoft.com/office/powerpoint/2010/main" val="92216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smtClean="0">
                <a:solidFill>
                  <a:srgbClr val="1B2F5E"/>
                </a:solidFill>
              </a:rPr>
              <a:t>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1378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2286000" y="734754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Variable     </a:t>
            </a:r>
            <a:r>
              <a:rPr lang="en-US" sz="1000" dirty="0" err="1"/>
              <a:t>Obs</a:t>
            </a:r>
            <a:r>
              <a:rPr lang="en-US" sz="1000" dirty="0"/>
              <a:t> Unique       Mean    Min      Max  Label</a:t>
            </a:r>
          </a:p>
          <a:p>
            <a:r>
              <a:rPr lang="en-US" sz="1000" dirty="0"/>
              <a:t>-----------------------------------------------------------------------------------------------------------------------</a:t>
            </a:r>
          </a:p>
          <a:p>
            <a:r>
              <a:rPr lang="en-US" sz="1000" dirty="0"/>
              <a:t>v002       30078    205   59.96901      1      225  household number</a:t>
            </a:r>
          </a:p>
          <a:p>
            <a:r>
              <a:rPr lang="en-US" sz="1000" dirty="0"/>
              <a:t>v005       30078    660    1000000  91325  3891736  women's individual sample weight (6 decimals)</a:t>
            </a:r>
          </a:p>
          <a:p>
            <a:r>
              <a:rPr lang="en-US" sz="1000" dirty="0"/>
              <a:t>v024       30078      8   4.379646      1        8  division</a:t>
            </a:r>
          </a:p>
          <a:p>
            <a:r>
              <a:rPr lang="en-US" sz="1000" dirty="0"/>
              <a:t>v025       30078      2   1.648547      1        2  type of place of residence</a:t>
            </a:r>
          </a:p>
          <a:p>
            <a:r>
              <a:rPr lang="en-US" sz="1000" dirty="0"/>
              <a:t>v106       30078      4   1.609349      0        3  highest educational level</a:t>
            </a:r>
          </a:p>
          <a:p>
            <a:r>
              <a:rPr lang="en-US" sz="1000" dirty="0"/>
              <a:t>v119       30078      3    1.41153      0        7  household has: electricity</a:t>
            </a:r>
          </a:p>
          <a:p>
            <a:r>
              <a:rPr lang="en-US" sz="1000" dirty="0"/>
              <a:t>v121       30078      3   .9937163      0        7  household has: television</a:t>
            </a:r>
          </a:p>
          <a:p>
            <a:r>
              <a:rPr lang="en-US" sz="1000" dirty="0"/>
              <a:t>v151       30078      2   1.141798      1        2  sex of household head</a:t>
            </a:r>
          </a:p>
          <a:p>
            <a:r>
              <a:rPr lang="en-US" sz="1000" dirty="0" err="1"/>
              <a:t>awfactw</a:t>
            </a:r>
            <a:r>
              <a:rPr lang="en-US" sz="1000" dirty="0"/>
              <a:t>    30078     48   117.8173    100     1240  all woman factor - wealth index</a:t>
            </a:r>
          </a:p>
          <a:p>
            <a:r>
              <a:rPr lang="en-US" sz="1000" dirty="0"/>
              <a:t>v171a      19987      3   .2971431      0        2  use of internet</a:t>
            </a:r>
          </a:p>
          <a:p>
            <a:r>
              <a:rPr lang="en-US" sz="1000" dirty="0"/>
              <a:t>v176           0      0          .      .        .  </a:t>
            </a:r>
            <a:r>
              <a:rPr lang="en-US" sz="1000" dirty="0" err="1"/>
              <a:t>na</a:t>
            </a:r>
            <a:r>
              <a:rPr lang="en-US" sz="1000" dirty="0"/>
              <a:t> - self reported health status</a:t>
            </a:r>
          </a:p>
          <a:p>
            <a:r>
              <a:rPr lang="en-US" sz="1000" dirty="0"/>
              <a:t>v190       30078      5   3.077631      1        5  wealth index combined</a:t>
            </a:r>
          </a:p>
          <a:p>
            <a:r>
              <a:rPr lang="en-US" sz="1000" dirty="0"/>
              <a:t>b0_01      26933      3   .0207923      0        3  child is twin</a:t>
            </a:r>
          </a:p>
          <a:p>
            <a:r>
              <a:rPr lang="en-US" sz="1000" dirty="0"/>
              <a:t>b15_01     26933      2   .0032674      0        1  live birth between births</a:t>
            </a:r>
          </a:p>
          <a:p>
            <a:r>
              <a:rPr lang="en-US" sz="1000" dirty="0"/>
              <a:t>pidxb_20       0      0          .      .        .  index to birth history</a:t>
            </a:r>
          </a:p>
          <a:p>
            <a:r>
              <a:rPr lang="en-US" sz="1000" dirty="0"/>
              <a:t>m13_1       4644     10   4.383506      1       98  timing of 1st antenatal check (months)</a:t>
            </a:r>
          </a:p>
          <a:p>
            <a:r>
              <a:rPr lang="en-US" sz="1000" dirty="0"/>
              <a:t>hw73_1      3675    593  -37.70367   -459     9998  </a:t>
            </a:r>
            <a:r>
              <a:rPr lang="en-US" sz="1000" dirty="0" err="1"/>
              <a:t>bmi</a:t>
            </a:r>
            <a:r>
              <a:rPr lang="en-US" sz="1000" dirty="0"/>
              <a:t> standard deviation (new who)</a:t>
            </a:r>
          </a:p>
          <a:p>
            <a:r>
              <a:rPr lang="en-US" sz="1000" dirty="0"/>
              <a:t>v456           0      0          .      .        .  </a:t>
            </a:r>
            <a:r>
              <a:rPr lang="en-US" sz="1000" dirty="0" err="1"/>
              <a:t>na</a:t>
            </a:r>
            <a:r>
              <a:rPr lang="en-US" sz="1000" dirty="0"/>
              <a:t> - hemoglobin level adjusted for altitude and smoking (g/dl - ...</a:t>
            </a:r>
          </a:p>
          <a:p>
            <a:r>
              <a:rPr lang="en-US" sz="1000" dirty="0"/>
              <a:t>v501       30078      4   1.133619      1        5  current marital status</a:t>
            </a:r>
          </a:p>
          <a:p>
            <a:r>
              <a:rPr lang="en-US" sz="1000" dirty="0"/>
              <a:t>v714a      13864      2   .0037507      0        1  respondent has a job, but currently absent</a:t>
            </a:r>
          </a:p>
          <a:p>
            <a:r>
              <a:rPr lang="en-US" sz="1000" dirty="0"/>
              <a:t>v745b      19987      6   .0665933      0        5  owns land alone or jointly</a:t>
            </a:r>
          </a:p>
        </p:txBody>
      </p:sp>
    </p:spTree>
    <p:extLst>
      <p:ext uri="{BB962C8B-B14F-4D97-AF65-F5344CB8AC3E}">
        <p14:creationId xmlns:p14="http://schemas.microsoft.com/office/powerpoint/2010/main" val="23388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/>
              <a:t>MISSING VALUE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2286000" y="1280108"/>
            <a:ext cx="4572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. </a:t>
            </a:r>
            <a:r>
              <a:rPr lang="en-US" sz="1000" dirty="0" err="1"/>
              <a:t>misstable</a:t>
            </a:r>
            <a:r>
              <a:rPr lang="en-US" sz="1000" dirty="0"/>
              <a:t> summarize</a:t>
            </a:r>
          </a:p>
          <a:p>
            <a:r>
              <a:rPr lang="en-US" sz="1000" dirty="0"/>
              <a:t>                                                               </a:t>
            </a:r>
            <a:r>
              <a:rPr lang="en-US" sz="1000" dirty="0" err="1"/>
              <a:t>Obs</a:t>
            </a:r>
            <a:r>
              <a:rPr lang="en-US" sz="1000" dirty="0"/>
              <a:t>&lt;.</a:t>
            </a:r>
          </a:p>
          <a:p>
            <a:r>
              <a:rPr lang="en-US" sz="1000" dirty="0"/>
              <a:t>                                                +------------------------------</a:t>
            </a:r>
          </a:p>
          <a:p>
            <a:r>
              <a:rPr lang="en-US" sz="1000" dirty="0"/>
              <a:t>               |                                | Unique</a:t>
            </a:r>
          </a:p>
          <a:p>
            <a:r>
              <a:rPr lang="en-US" sz="1000" dirty="0"/>
              <a:t>      Variable |     </a:t>
            </a:r>
            <a:r>
              <a:rPr lang="en-US" sz="1000" dirty="0" err="1"/>
              <a:t>Obs</a:t>
            </a:r>
            <a:r>
              <a:rPr lang="en-US" sz="1000" dirty="0"/>
              <a:t>=.     </a:t>
            </a:r>
            <a:r>
              <a:rPr lang="en-US" sz="1000" dirty="0" err="1"/>
              <a:t>Obs</a:t>
            </a:r>
            <a:r>
              <a:rPr lang="en-US" sz="1000" dirty="0"/>
              <a:t>&gt;.     </a:t>
            </a:r>
            <a:r>
              <a:rPr lang="en-US" sz="1000" dirty="0" err="1"/>
              <a:t>Obs</a:t>
            </a:r>
            <a:r>
              <a:rPr lang="en-US" sz="1000" dirty="0"/>
              <a:t>&lt;.  | values        Min         Max</a:t>
            </a:r>
          </a:p>
          <a:p>
            <a:r>
              <a:rPr lang="en-US" sz="1000" dirty="0"/>
              <a:t>  -------------+--------------------------------+------------------------------</a:t>
            </a:r>
          </a:p>
          <a:p>
            <a:r>
              <a:rPr lang="en-US" sz="1000" dirty="0"/>
              <a:t>         v171a |    10,091              19,987  |      3          0           2</a:t>
            </a:r>
          </a:p>
          <a:p>
            <a:r>
              <a:rPr lang="en-US" sz="1000" dirty="0"/>
              <a:t>          v176 |    30,078                   0  |      0          .           .</a:t>
            </a:r>
          </a:p>
          <a:p>
            <a:r>
              <a:rPr lang="en-US" sz="1000" dirty="0"/>
              <a:t>         b0_01 |     3,145              26,933  |      3          0           3</a:t>
            </a:r>
          </a:p>
          <a:p>
            <a:r>
              <a:rPr lang="en-US" sz="1000" dirty="0"/>
              <a:t>        b15_01 |     3,145              26,933  |      2          0           1</a:t>
            </a:r>
          </a:p>
          <a:p>
            <a:r>
              <a:rPr lang="en-US" sz="1000" dirty="0"/>
              <a:t>      pidxb_20 |    30,078                   0  |      0          .           .</a:t>
            </a:r>
          </a:p>
          <a:p>
            <a:r>
              <a:rPr lang="en-US" sz="1000" dirty="0"/>
              <a:t>         m13_1 |    25,434               4,644  |     10          1          98</a:t>
            </a:r>
          </a:p>
          <a:p>
            <a:r>
              <a:rPr lang="en-US" sz="1000" dirty="0"/>
              <a:t>        hw73_1 |    26,311        92     3,675  |   &gt;500       -459        9998</a:t>
            </a:r>
          </a:p>
          <a:p>
            <a:r>
              <a:rPr lang="en-US" sz="1000" dirty="0"/>
              <a:t>          v456 |    30,078                   0  |      0          .           .</a:t>
            </a:r>
          </a:p>
          <a:p>
            <a:r>
              <a:rPr lang="en-US" sz="1000" dirty="0"/>
              <a:t>         v714a |    16,214              13,864  |      2          0           1</a:t>
            </a:r>
          </a:p>
          <a:p>
            <a:r>
              <a:rPr lang="en-US" sz="1000" dirty="0"/>
              <a:t>         v745b |    10,091              19,987  |      6          0           5</a:t>
            </a:r>
          </a:p>
        </p:txBody>
      </p:sp>
    </p:spTree>
    <p:extLst>
      <p:ext uri="{BB962C8B-B14F-4D97-AF65-F5344CB8AC3E}">
        <p14:creationId xmlns:p14="http://schemas.microsoft.com/office/powerpoint/2010/main" val="187825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Place  </a:t>
            </a:r>
            <a:r>
              <a:rPr lang="en-US" sz="2400" b="1" dirty="0"/>
              <a:t>of  </a:t>
            </a:r>
            <a:r>
              <a:rPr lang="en-US" sz="2400" b="1" dirty="0" smtClean="0"/>
              <a:t>residence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510192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30,078</a:t>
            </a:r>
          </a:p>
          <a:p>
            <a:r>
              <a:rPr lang="en-US" sz="1000" dirty="0"/>
              <a:t>Number of PSUs   = 1,399                          Population size = 30,078.001</a:t>
            </a:r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1,391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Type of   |</a:t>
            </a:r>
          </a:p>
          <a:p>
            <a:r>
              <a:rPr lang="en-US" sz="1000" dirty="0"/>
              <a:t>place of  |</a:t>
            </a:r>
          </a:p>
          <a:p>
            <a:r>
              <a:rPr lang="en-US" sz="1000" dirty="0"/>
              <a:t>residence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   Urban |      .2848</a:t>
            </a:r>
          </a:p>
          <a:p>
            <a:r>
              <a:rPr lang="en-US" sz="1000" dirty="0"/>
              <a:t>    Rural |      .7152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</p:txBody>
      </p:sp>
    </p:spTree>
    <p:extLst>
      <p:ext uri="{BB962C8B-B14F-4D97-AF65-F5344CB8AC3E}">
        <p14:creationId xmlns:p14="http://schemas.microsoft.com/office/powerpoint/2010/main" val="244984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Education 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301621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30,078</a:t>
            </a:r>
          </a:p>
          <a:p>
            <a:r>
              <a:rPr lang="en-US" sz="1000" dirty="0"/>
              <a:t>Number of PSUs   = 1,399                          Population size = 30,078.001</a:t>
            </a:r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1,391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Highest   |</a:t>
            </a:r>
          </a:p>
          <a:p>
            <a:r>
              <a:rPr lang="en-US" sz="1000" dirty="0"/>
              <a:t>education |</a:t>
            </a:r>
          </a:p>
          <a:p>
            <a:r>
              <a:rPr lang="en-US" sz="1000" dirty="0"/>
              <a:t>al level 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No </a:t>
            </a:r>
            <a:r>
              <a:rPr lang="en-US" sz="1000" dirty="0" err="1"/>
              <a:t>educa</a:t>
            </a:r>
            <a:r>
              <a:rPr lang="en-US" sz="1000" dirty="0"/>
              <a:t> |      .1406</a:t>
            </a:r>
          </a:p>
          <a:p>
            <a:r>
              <a:rPr lang="en-US" sz="1000" dirty="0"/>
              <a:t>  Primary |      .2611</a:t>
            </a:r>
          </a:p>
          <a:p>
            <a:r>
              <a:rPr lang="en-US" sz="1000" dirty="0"/>
              <a:t> </a:t>
            </a:r>
            <a:r>
              <a:rPr lang="en-US" sz="1000" dirty="0" err="1"/>
              <a:t>Secondar</a:t>
            </a:r>
            <a:r>
              <a:rPr lang="en-US" sz="1000" dirty="0"/>
              <a:t> |      .4617</a:t>
            </a:r>
          </a:p>
          <a:p>
            <a:r>
              <a:rPr lang="en-US" sz="1000" dirty="0"/>
              <a:t>   Higher |      .1366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Key: proportion = Cell proportion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725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Wealth  </a:t>
            </a:r>
            <a:r>
              <a:rPr lang="en-US" sz="2400" b="1" dirty="0" smtClean="0"/>
              <a:t> index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30162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30,078</a:t>
            </a:r>
          </a:p>
          <a:p>
            <a:r>
              <a:rPr lang="en-US" sz="1000" dirty="0"/>
              <a:t>Number of PSUs   = 1,399                          Population size = 30,078.001</a:t>
            </a:r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1,391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Wealth    |</a:t>
            </a:r>
          </a:p>
          <a:p>
            <a:r>
              <a:rPr lang="en-US" sz="1000" dirty="0"/>
              <a:t>index     |</a:t>
            </a:r>
          </a:p>
          <a:p>
            <a:r>
              <a:rPr lang="en-US" sz="1000" dirty="0"/>
              <a:t>combined 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 Poorest |      .1842</a:t>
            </a:r>
          </a:p>
          <a:p>
            <a:r>
              <a:rPr lang="en-US" sz="1000" dirty="0"/>
              <a:t>   Poorer |      .2004</a:t>
            </a:r>
          </a:p>
          <a:p>
            <a:r>
              <a:rPr lang="en-US" sz="1000" dirty="0"/>
              <a:t>   Middle |       .205</a:t>
            </a:r>
          </a:p>
          <a:p>
            <a:r>
              <a:rPr lang="en-US" sz="1000" dirty="0"/>
              <a:t>   Richer |      .2063</a:t>
            </a:r>
          </a:p>
          <a:p>
            <a:r>
              <a:rPr lang="en-US" sz="1000" dirty="0"/>
              <a:t>  Richest |      .2041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Key: proportion = Cell proportion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416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Marital status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30,078</a:t>
            </a:r>
          </a:p>
          <a:p>
            <a:r>
              <a:rPr lang="en-US" sz="1000" dirty="0"/>
              <a:t>Number of PSUs   = 1,399                          Population size = 30,078.001</a:t>
            </a:r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1,391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Current   |</a:t>
            </a:r>
          </a:p>
          <a:p>
            <a:r>
              <a:rPr lang="en-US" sz="1000" dirty="0"/>
              <a:t>marital   |</a:t>
            </a:r>
          </a:p>
          <a:p>
            <a:r>
              <a:rPr lang="en-US" sz="1000" dirty="0"/>
              <a:t>status   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 Married |      .9506</a:t>
            </a:r>
          </a:p>
          <a:p>
            <a:r>
              <a:rPr lang="en-US" sz="1000" dirty="0"/>
              <a:t>  Widowed |      .0275</a:t>
            </a:r>
          </a:p>
          <a:p>
            <a:r>
              <a:rPr lang="en-US" sz="1000" dirty="0"/>
              <a:t> Divorced |      .0134</a:t>
            </a:r>
          </a:p>
          <a:p>
            <a:r>
              <a:rPr lang="en-US" sz="1000" dirty="0"/>
              <a:t> No </a:t>
            </a:r>
            <a:r>
              <a:rPr lang="en-US" sz="1000" dirty="0" err="1"/>
              <a:t>longe</a:t>
            </a:r>
            <a:r>
              <a:rPr lang="en-US" sz="1000" dirty="0"/>
              <a:t> |      .0084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Key: proportion = Cell proportion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352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Use of  </a:t>
            </a:r>
            <a:r>
              <a:rPr lang="en-US" sz="2400" b="1" dirty="0" smtClean="0"/>
              <a:t>internet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</a:t>
            </a:r>
            <a:r>
              <a:rPr lang="en-US" sz="1000" dirty="0"/>
              <a:t>30,078</a:t>
            </a:r>
          </a:p>
          <a:p>
            <a:r>
              <a:rPr lang="en-US" sz="1000" dirty="0" smtClean="0"/>
              <a:t>Number </a:t>
            </a:r>
            <a:r>
              <a:rPr lang="en-US" sz="1000" dirty="0"/>
              <a:t>of PSUs   = 1,324                          Population size = </a:t>
            </a:r>
            <a:r>
              <a:rPr lang="en-US" sz="1000" dirty="0" smtClean="0"/>
              <a:t>30,078</a:t>
            </a:r>
            <a:r>
              <a:rPr lang="en-US" sz="1000" dirty="0" smtClean="0"/>
              <a:t>.606</a:t>
            </a:r>
            <a:endParaRPr lang="en-US" sz="1000" dirty="0"/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1,316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Use of    |</a:t>
            </a:r>
          </a:p>
          <a:p>
            <a:r>
              <a:rPr lang="en-US" sz="1000" dirty="0"/>
              <a:t>internet 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   Never |       .699</a:t>
            </a:r>
          </a:p>
          <a:p>
            <a:r>
              <a:rPr lang="en-US" sz="1000" dirty="0"/>
              <a:t> Almost e |      .2944</a:t>
            </a:r>
          </a:p>
          <a:p>
            <a:r>
              <a:rPr lang="en-US" sz="1000" dirty="0"/>
              <a:t> At least |      .0066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  <a:p>
            <a:r>
              <a:rPr lang="en-US" sz="1000" dirty="0"/>
              <a:t>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155244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383456" y="1677974"/>
            <a:ext cx="48522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</a:t>
            </a:r>
            <a:r>
              <a:rPr lang="en-US" sz="1000" dirty="0" smtClean="0"/>
              <a:t>High </a:t>
            </a:r>
            <a:r>
              <a:rPr lang="en-US" sz="1000" dirty="0"/>
              <a:t>BMI z-score (&gt;2 SD) — |</a:t>
            </a:r>
          </a:p>
          <a:p>
            <a:pPr algn="just"/>
            <a:r>
              <a:rPr lang="en-US" sz="1000" dirty="0"/>
              <a:t>            overweight/obesity proxy |      Freq.     Percent        Cum.</a:t>
            </a:r>
          </a:p>
          <a:p>
            <a:pPr algn="just"/>
            <a:r>
              <a:rPr lang="en-US" sz="1000" dirty="0"/>
              <a:t>-------------------------------------+-----------------------------------</a:t>
            </a:r>
          </a:p>
          <a:p>
            <a:pPr algn="just"/>
            <a:r>
              <a:rPr lang="en-US" sz="1000" dirty="0"/>
              <a:t>            Normal/Low BMI-Z (≤2 SD) |      </a:t>
            </a:r>
            <a:r>
              <a:rPr lang="en-US" sz="1000" dirty="0" smtClean="0"/>
              <a:t>2,4010       </a:t>
            </a:r>
            <a:r>
              <a:rPr lang="en-US" sz="1000" dirty="0"/>
              <a:t>98.04       98.04</a:t>
            </a:r>
          </a:p>
          <a:p>
            <a:pPr algn="just"/>
            <a:r>
              <a:rPr lang="en-US" sz="1000" dirty="0"/>
              <a:t>High BMI-Z (&gt;2 SD, overweight/obese) |         </a:t>
            </a:r>
            <a:r>
              <a:rPr lang="en-US" sz="1000" dirty="0" smtClean="0"/>
              <a:t>4850        </a:t>
            </a:r>
            <a:r>
              <a:rPr lang="en-US" sz="1000" dirty="0"/>
              <a:t>1.96      100.00</a:t>
            </a:r>
          </a:p>
          <a:p>
            <a:pPr algn="just"/>
            <a:r>
              <a:rPr lang="en-US" sz="1000" dirty="0"/>
              <a:t>-------------------------------------+-----------------------------------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    Total |     </a:t>
            </a:r>
            <a:r>
              <a:rPr lang="en-US" sz="1000" dirty="0" smtClean="0"/>
              <a:t>30,078      100.00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. 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6525" y="1505909"/>
            <a:ext cx="341670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highest |</a:t>
            </a:r>
          </a:p>
          <a:p>
            <a:pPr algn="just"/>
            <a:r>
              <a:rPr lang="en-US" sz="1000" dirty="0"/>
              <a:t> educational |</a:t>
            </a:r>
          </a:p>
          <a:p>
            <a:pPr algn="just"/>
            <a:r>
              <a:rPr lang="en-US" sz="1000" dirty="0"/>
              <a:t>       level |      Freq.     Percent        Cum.</a:t>
            </a:r>
          </a:p>
          <a:p>
            <a:pPr algn="just"/>
            <a:r>
              <a:rPr lang="en-US" sz="1000" dirty="0"/>
              <a:t>-------------+-----------------------------------</a:t>
            </a:r>
          </a:p>
          <a:p>
            <a:pPr algn="just"/>
            <a:r>
              <a:rPr lang="en-US" sz="1000" dirty="0"/>
              <a:t>no education |        </a:t>
            </a:r>
            <a:r>
              <a:rPr lang="en-US" sz="1000" dirty="0" smtClean="0"/>
              <a:t>1370        </a:t>
            </a:r>
            <a:r>
              <a:rPr lang="en-US" sz="1000" dirty="0"/>
              <a:t>5.59        5.59</a:t>
            </a:r>
          </a:p>
          <a:p>
            <a:pPr algn="just"/>
            <a:r>
              <a:rPr lang="en-US" sz="1000" dirty="0"/>
              <a:t>     primary |        557 </a:t>
            </a:r>
            <a:r>
              <a:rPr lang="en-US" sz="1000" dirty="0" smtClean="0"/>
              <a:t>3      </a:t>
            </a:r>
            <a:r>
              <a:rPr lang="en-US" sz="1000" dirty="0"/>
              <a:t>22.74       28.34</a:t>
            </a:r>
          </a:p>
          <a:p>
            <a:pPr algn="just"/>
            <a:r>
              <a:rPr lang="en-US" sz="1000" dirty="0"/>
              <a:t>   secondary |      </a:t>
            </a:r>
            <a:r>
              <a:rPr lang="en-US" sz="1000" dirty="0" smtClean="0"/>
              <a:t>1,3010       </a:t>
            </a:r>
            <a:r>
              <a:rPr lang="en-US" sz="1000" dirty="0"/>
              <a:t>53.12       81.46</a:t>
            </a:r>
          </a:p>
          <a:p>
            <a:pPr algn="just"/>
            <a:r>
              <a:rPr lang="en-US" sz="1000" dirty="0"/>
              <a:t>      higher |        </a:t>
            </a:r>
            <a:r>
              <a:rPr lang="en-US" sz="1000" dirty="0" smtClean="0"/>
              <a:t>4546       </a:t>
            </a:r>
            <a:r>
              <a:rPr lang="en-US" sz="1000" dirty="0"/>
              <a:t>18.54      100.00</a:t>
            </a:r>
          </a:p>
          <a:p>
            <a:pPr algn="just"/>
            <a:r>
              <a:rPr lang="en-US" sz="1000" dirty="0"/>
              <a:t>-------------+-----------------------------------</a:t>
            </a:r>
          </a:p>
          <a:p>
            <a:pPr algn="just"/>
            <a:r>
              <a:rPr lang="en-US" sz="1000" dirty="0"/>
              <a:t>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56" y="3216721"/>
            <a:ext cx="485221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household has: |</a:t>
            </a:r>
          </a:p>
          <a:p>
            <a:pPr algn="just"/>
            <a:r>
              <a:rPr lang="en-US" sz="1000" dirty="0"/>
              <a:t>          electricity |      Freq.     Percent        Cum.</a:t>
            </a:r>
          </a:p>
          <a:p>
            <a:pPr algn="just"/>
            <a:r>
              <a:rPr lang="en-US" sz="1000" dirty="0"/>
              <a:t>----------------------+-----------------------------------</a:t>
            </a:r>
          </a:p>
          <a:p>
            <a:pPr algn="just"/>
            <a:r>
              <a:rPr lang="en-US" sz="1000" dirty="0"/>
              <a:t>                   no |         4</a:t>
            </a:r>
            <a:r>
              <a:rPr lang="en-US" sz="1000" dirty="0" smtClean="0"/>
              <a:t>967       </a:t>
            </a:r>
            <a:r>
              <a:rPr lang="en-US" sz="1000" dirty="0"/>
              <a:t>1.18        1.18</a:t>
            </a:r>
          </a:p>
          <a:p>
            <a:pPr algn="just"/>
            <a:r>
              <a:rPr lang="en-US" sz="1000" dirty="0"/>
              <a:t>                  yes |      </a:t>
            </a:r>
            <a:r>
              <a:rPr lang="en-US" sz="1000" dirty="0" smtClean="0"/>
              <a:t>2,4200       </a:t>
            </a:r>
            <a:r>
              <a:rPr lang="en-US" sz="1000" dirty="0"/>
              <a:t>98.82      100.00</a:t>
            </a:r>
          </a:p>
          <a:p>
            <a:pPr algn="just"/>
            <a:r>
              <a:rPr lang="en-US" sz="1000" dirty="0"/>
              <a:t>----------------------+-----------------------------------</a:t>
            </a:r>
          </a:p>
          <a:p>
            <a:pPr algn="just"/>
            <a:r>
              <a:rPr lang="en-US" sz="1000" dirty="0"/>
              <a:t>         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2512" y="3447781"/>
            <a:ext cx="341670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household has: |</a:t>
            </a:r>
          </a:p>
          <a:p>
            <a:pPr algn="just"/>
            <a:r>
              <a:rPr lang="en-US" sz="1000" dirty="0"/>
              <a:t>           television |      Freq.     Percent        Cum.</a:t>
            </a:r>
          </a:p>
          <a:p>
            <a:pPr algn="just"/>
            <a:r>
              <a:rPr lang="en-US" sz="1000" dirty="0"/>
              <a:t>----------------------+-----------------------------------</a:t>
            </a:r>
          </a:p>
          <a:p>
            <a:pPr algn="just"/>
            <a:r>
              <a:rPr lang="en-US" sz="1000" dirty="0"/>
              <a:t>                   no |      </a:t>
            </a:r>
            <a:r>
              <a:rPr lang="en-US" sz="1000" dirty="0" smtClean="0"/>
              <a:t>1,1940       </a:t>
            </a:r>
            <a:r>
              <a:rPr lang="en-US" sz="1000" dirty="0"/>
              <a:t>48.75       48.75</a:t>
            </a:r>
          </a:p>
          <a:p>
            <a:pPr algn="just"/>
            <a:r>
              <a:rPr lang="en-US" sz="1000" dirty="0"/>
              <a:t>                  yes |      </a:t>
            </a:r>
            <a:r>
              <a:rPr lang="en-US" sz="1000" dirty="0" smtClean="0"/>
              <a:t>1,8550       </a:t>
            </a:r>
            <a:r>
              <a:rPr lang="en-US" sz="1000" dirty="0"/>
              <a:t>51.25      100.00</a:t>
            </a:r>
          </a:p>
          <a:p>
            <a:pPr algn="just"/>
            <a:r>
              <a:rPr lang="en-US" sz="1000" dirty="0"/>
              <a:t>----------------------+-----------------------------------</a:t>
            </a:r>
          </a:p>
          <a:p>
            <a:pPr algn="just"/>
            <a:r>
              <a:rPr lang="en-US" sz="1000" dirty="0"/>
              <a:t>                Total |      </a:t>
            </a:r>
            <a:r>
              <a:rPr lang="en-US" sz="1000" dirty="0" smtClean="0"/>
              <a:t>30,078     </a:t>
            </a:r>
            <a:r>
              <a:rPr lang="en-US" sz="1000" dirty="0"/>
              <a:t>100.00</a:t>
            </a:r>
          </a:p>
        </p:txBody>
      </p:sp>
    </p:spTree>
    <p:extLst>
      <p:ext uri="{BB962C8B-B14F-4D97-AF65-F5344CB8AC3E}">
        <p14:creationId xmlns:p14="http://schemas.microsoft.com/office/powerpoint/2010/main" val="2782605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835739" y="1324012"/>
            <a:ext cx="48522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sex of |</a:t>
            </a:r>
          </a:p>
          <a:p>
            <a:pPr algn="just"/>
            <a:r>
              <a:rPr lang="en-US" sz="1000" dirty="0"/>
              <a:t>  household |</a:t>
            </a:r>
          </a:p>
          <a:p>
            <a:pPr algn="just"/>
            <a:r>
              <a:rPr lang="en-US" sz="1000" dirty="0"/>
              <a:t>       head |      Freq.     Percent        Cum.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 male |      </a:t>
            </a:r>
            <a:r>
              <a:rPr lang="en-US" sz="1000" dirty="0" smtClean="0"/>
              <a:t>2,1406       </a:t>
            </a:r>
            <a:r>
              <a:rPr lang="en-US" sz="1000" dirty="0"/>
              <a:t>87.38       87.38</a:t>
            </a:r>
          </a:p>
          <a:p>
            <a:pPr algn="just"/>
            <a:r>
              <a:rPr lang="en-US" sz="1000" dirty="0"/>
              <a:t>     female |        </a:t>
            </a:r>
            <a:r>
              <a:rPr lang="en-US" sz="1000" dirty="0" smtClean="0"/>
              <a:t>8027      </a:t>
            </a:r>
            <a:r>
              <a:rPr lang="en-US" sz="1000" dirty="0"/>
              <a:t>12.62      100.00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6253" y="1446917"/>
            <a:ext cx="341670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use of internet |      Freq.     Percent        Cum.</a:t>
            </a:r>
          </a:p>
          <a:p>
            <a:pPr algn="just"/>
            <a:r>
              <a:rPr lang="en-US" sz="1000" dirty="0"/>
              <a:t>---------------------------+-----------------------------------</a:t>
            </a:r>
          </a:p>
          <a:p>
            <a:pPr algn="just"/>
            <a:r>
              <a:rPr lang="en-US" sz="1000" dirty="0"/>
              <a:t>                     never |      </a:t>
            </a:r>
            <a:r>
              <a:rPr lang="en-US" sz="1000" dirty="0" smtClean="0"/>
              <a:t>1,6429       </a:t>
            </a:r>
            <a:r>
              <a:rPr lang="en-US" sz="1000" dirty="0"/>
              <a:t>67.05       67.05</a:t>
            </a:r>
          </a:p>
          <a:p>
            <a:pPr algn="just"/>
            <a:r>
              <a:rPr lang="en-US" sz="1000" dirty="0"/>
              <a:t>       yes, last 12 months |        </a:t>
            </a:r>
            <a:r>
              <a:rPr lang="en-US" sz="1000" dirty="0" smtClean="0"/>
              <a:t>7935       </a:t>
            </a:r>
            <a:r>
              <a:rPr lang="en-US" sz="1000" dirty="0"/>
              <a:t>32.38       99.43</a:t>
            </a:r>
          </a:p>
          <a:p>
            <a:pPr algn="just"/>
            <a:r>
              <a:rPr lang="en-US" sz="1000" dirty="0"/>
              <a:t>yes, before last 12 months |         </a:t>
            </a:r>
            <a:r>
              <a:rPr lang="en-US" sz="1000" dirty="0" smtClean="0"/>
              <a:t>1432        </a:t>
            </a:r>
            <a:r>
              <a:rPr lang="en-US" sz="1000" dirty="0"/>
              <a:t>0.57      100.00</a:t>
            </a:r>
          </a:p>
          <a:p>
            <a:pPr algn="just"/>
            <a:r>
              <a:rPr lang="en-US" sz="1000" dirty="0"/>
              <a:t>---------------------------+-----------------------------------</a:t>
            </a:r>
          </a:p>
          <a:p>
            <a:pPr algn="just"/>
            <a:r>
              <a:rPr lang="en-US" sz="1000" dirty="0"/>
              <a:t>              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56" y="2892255"/>
            <a:ext cx="485221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wealth |</a:t>
            </a:r>
          </a:p>
          <a:p>
            <a:pPr algn="just"/>
            <a:r>
              <a:rPr lang="en-US" sz="1000" dirty="0"/>
              <a:t>      index |</a:t>
            </a:r>
          </a:p>
          <a:p>
            <a:pPr algn="just"/>
            <a:r>
              <a:rPr lang="en-US" sz="1000" dirty="0"/>
              <a:t>   combined |      Freq.     Percent        Cum.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poorest |        </a:t>
            </a:r>
            <a:r>
              <a:rPr lang="en-US" sz="1000" dirty="0" smtClean="0"/>
              <a:t>4797       </a:t>
            </a:r>
            <a:r>
              <a:rPr lang="en-US" sz="1000" dirty="0"/>
              <a:t>19.56       19.56</a:t>
            </a:r>
          </a:p>
          <a:p>
            <a:pPr algn="just"/>
            <a:r>
              <a:rPr lang="en-US" sz="1000" dirty="0"/>
              <a:t>     poorer |        </a:t>
            </a:r>
            <a:r>
              <a:rPr lang="en-US" sz="1000" dirty="0" smtClean="0"/>
              <a:t>4583    </a:t>
            </a:r>
            <a:r>
              <a:rPr lang="en-US" sz="1000" dirty="0"/>
              <a:t>18.70       38.26</a:t>
            </a:r>
          </a:p>
          <a:p>
            <a:pPr algn="just"/>
            <a:r>
              <a:rPr lang="en-US" sz="1000" dirty="0"/>
              <a:t>     middle |        </a:t>
            </a:r>
            <a:r>
              <a:rPr lang="en-US" sz="1000" dirty="0" smtClean="0"/>
              <a:t>4840       </a:t>
            </a:r>
            <a:r>
              <a:rPr lang="en-US" sz="1000" dirty="0"/>
              <a:t>19.76       58.02</a:t>
            </a:r>
          </a:p>
          <a:p>
            <a:pPr algn="just"/>
            <a:r>
              <a:rPr lang="en-US" sz="1000" dirty="0"/>
              <a:t>     richer |        </a:t>
            </a:r>
            <a:r>
              <a:rPr lang="en-US" sz="1000" dirty="0" smtClean="0"/>
              <a:t>4967       </a:t>
            </a:r>
            <a:r>
              <a:rPr lang="en-US" sz="1000" dirty="0"/>
              <a:t>20.25       78.28</a:t>
            </a:r>
          </a:p>
          <a:p>
            <a:pPr algn="just"/>
            <a:r>
              <a:rPr lang="en-US" sz="1000" dirty="0"/>
              <a:t>    richest |        </a:t>
            </a:r>
            <a:r>
              <a:rPr lang="en-US" sz="1000" dirty="0" smtClean="0"/>
              <a:t>15323       </a:t>
            </a:r>
            <a:r>
              <a:rPr lang="en-US" sz="1000" dirty="0"/>
              <a:t>21.72      100.00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2240" y="3044658"/>
            <a:ext cx="47145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current marital status |      Freq.     Percent        Cum.</a:t>
            </a:r>
          </a:p>
          <a:p>
            <a:pPr algn="just"/>
            <a:r>
              <a:rPr lang="en-US" sz="1000" dirty="0"/>
              <a:t>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 married |      </a:t>
            </a:r>
            <a:r>
              <a:rPr lang="en-US" sz="1000" dirty="0" smtClean="0"/>
              <a:t>2,4239       </a:t>
            </a:r>
            <a:r>
              <a:rPr lang="en-US" sz="1000" dirty="0"/>
              <a:t>98.94       98.94</a:t>
            </a:r>
          </a:p>
          <a:p>
            <a:pPr algn="just"/>
            <a:r>
              <a:rPr lang="en-US" sz="1000" dirty="0"/>
              <a:t>                            widowed |          </a:t>
            </a:r>
            <a:r>
              <a:rPr lang="en-US" sz="1000" dirty="0" smtClean="0"/>
              <a:t>4857        </a:t>
            </a:r>
            <a:r>
              <a:rPr lang="en-US" sz="1000" dirty="0"/>
              <a:t>0.33       99.27</a:t>
            </a:r>
          </a:p>
          <a:p>
            <a:pPr algn="just"/>
            <a:r>
              <a:rPr lang="en-US" sz="1000" dirty="0"/>
              <a:t>                           divorced |          </a:t>
            </a:r>
            <a:r>
              <a:rPr lang="en-US" sz="1000" dirty="0" smtClean="0"/>
              <a:t>3773        </a:t>
            </a:r>
            <a:r>
              <a:rPr lang="en-US" sz="1000" dirty="0"/>
              <a:t>0.29       99.55</a:t>
            </a:r>
          </a:p>
          <a:p>
            <a:pPr algn="just"/>
            <a:r>
              <a:rPr lang="en-US" sz="1000" dirty="0"/>
              <a:t>no longer living together/separated |         </a:t>
            </a:r>
            <a:r>
              <a:rPr lang="en-US" sz="1000" dirty="0" smtClean="0"/>
              <a:t>111        </a:t>
            </a:r>
            <a:r>
              <a:rPr lang="en-US" sz="1000" dirty="0"/>
              <a:t>0.45      100.00</a:t>
            </a:r>
          </a:p>
          <a:p>
            <a:pPr algn="just"/>
            <a:r>
              <a:rPr lang="en-US" sz="1000" dirty="0"/>
              <a:t>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</p:spTree>
    <p:extLst>
      <p:ext uri="{BB962C8B-B14F-4D97-AF65-F5344CB8AC3E}">
        <p14:creationId xmlns:p14="http://schemas.microsoft.com/office/powerpoint/2010/main" val="559517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501443" y="753743"/>
            <a:ext cx="48522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respondent |</a:t>
            </a:r>
          </a:p>
          <a:p>
            <a:pPr algn="just"/>
            <a:r>
              <a:rPr lang="en-US" sz="1000" dirty="0"/>
              <a:t> has a job, |</a:t>
            </a:r>
          </a:p>
          <a:p>
            <a:pPr algn="just"/>
            <a:r>
              <a:rPr lang="en-US" sz="1000" dirty="0"/>
              <a:t>        but |</a:t>
            </a:r>
          </a:p>
          <a:p>
            <a:pPr algn="just"/>
            <a:r>
              <a:rPr lang="en-US" sz="1000" dirty="0"/>
              <a:t>  currently |</a:t>
            </a:r>
          </a:p>
          <a:p>
            <a:pPr algn="just"/>
            <a:r>
              <a:rPr lang="en-US" sz="1000" dirty="0"/>
              <a:t>     absent |      Freq.     Percent        Cum.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   no |      </a:t>
            </a:r>
            <a:r>
              <a:rPr lang="en-US" sz="1000" dirty="0" smtClean="0"/>
              <a:t>2,4380       </a:t>
            </a:r>
            <a:r>
              <a:rPr lang="en-US" sz="1000" dirty="0"/>
              <a:t>99.55       99.55</a:t>
            </a:r>
          </a:p>
          <a:p>
            <a:pPr algn="just"/>
            <a:r>
              <a:rPr lang="en-US" sz="1000" dirty="0"/>
              <a:t>        yes |         </a:t>
            </a:r>
            <a:r>
              <a:rPr lang="en-US" sz="1000" dirty="0" smtClean="0"/>
              <a:t>5911        </a:t>
            </a:r>
            <a:r>
              <a:rPr lang="en-US" sz="1000" dirty="0"/>
              <a:t>0.45      100.00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1118" y="2862763"/>
            <a:ext cx="48522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SD) — |</a:t>
            </a:r>
          </a:p>
          <a:p>
            <a:pPr algn="just"/>
            <a:r>
              <a:rPr lang="en-US" sz="1000" dirty="0"/>
              <a:t>            overweight/obesity proxy |      Freq.     Percent        Cum.</a:t>
            </a:r>
          </a:p>
          <a:p>
            <a:pPr algn="just"/>
            <a:r>
              <a:rPr lang="en-US" sz="1000" dirty="0"/>
              <a:t>-------------------------------------+-----------------------------------</a:t>
            </a:r>
          </a:p>
          <a:p>
            <a:pPr algn="just"/>
            <a:r>
              <a:rPr lang="en-US" sz="1000" dirty="0"/>
              <a:t>            Normal/Low BMI-Z (≤2 SD) |      </a:t>
            </a:r>
            <a:r>
              <a:rPr lang="en-US" sz="1000" dirty="0" smtClean="0"/>
              <a:t>2,7019       </a:t>
            </a:r>
            <a:r>
              <a:rPr lang="en-US" sz="1000" dirty="0"/>
              <a:t>98.04       98.04</a:t>
            </a:r>
          </a:p>
          <a:p>
            <a:pPr algn="just"/>
            <a:r>
              <a:rPr lang="en-US" sz="1000" dirty="0"/>
              <a:t>High BMI-Z (&gt;2 SD, overweight/obese) |         </a:t>
            </a:r>
            <a:r>
              <a:rPr lang="en-US" sz="1000" dirty="0" smtClean="0"/>
              <a:t>2948        </a:t>
            </a:r>
            <a:r>
              <a:rPr lang="en-US" sz="1000" dirty="0"/>
              <a:t>1.96      100.00</a:t>
            </a:r>
          </a:p>
          <a:p>
            <a:pPr algn="just"/>
            <a:r>
              <a:rPr lang="en-US" sz="1000" dirty="0"/>
              <a:t>-------------------------------------+-----------------------------------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. 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550604" y="2877516"/>
            <a:ext cx="48522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type of |</a:t>
            </a:r>
          </a:p>
          <a:p>
            <a:pPr algn="just"/>
            <a:r>
              <a:rPr lang="en-US" sz="1000" dirty="0"/>
              <a:t>   place of |</a:t>
            </a:r>
          </a:p>
          <a:p>
            <a:pPr algn="just"/>
            <a:r>
              <a:rPr lang="en-US" sz="1000" dirty="0"/>
              <a:t>  residence |      Freq.     Percent        Cum.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urban |        9</a:t>
            </a:r>
            <a:r>
              <a:rPr lang="en-US" sz="1000" dirty="0" smtClean="0"/>
              <a:t>363       </a:t>
            </a:r>
            <a:r>
              <a:rPr lang="en-US" sz="1000" dirty="0"/>
              <a:t>35.24       35.24</a:t>
            </a:r>
          </a:p>
          <a:p>
            <a:pPr algn="just"/>
            <a:r>
              <a:rPr lang="en-US" sz="1000" dirty="0"/>
              <a:t>      rural |      </a:t>
            </a:r>
            <a:r>
              <a:rPr lang="en-US" sz="1000" dirty="0" smtClean="0"/>
              <a:t>20860       </a:t>
            </a:r>
            <a:r>
              <a:rPr lang="en-US" sz="1000" dirty="0"/>
              <a:t>64.76      100.00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3942736" y="768492"/>
            <a:ext cx="50931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owns land alone or jointly |      Freq.     Percent        Cum.</a:t>
            </a:r>
          </a:p>
          <a:p>
            <a:pPr algn="just"/>
            <a:r>
              <a:rPr lang="en-US" sz="1000" dirty="0"/>
              <a:t>----------------------------------------+-----------------------------------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does not own |      </a:t>
            </a:r>
            <a:r>
              <a:rPr lang="en-US" sz="1000" dirty="0" smtClean="0"/>
              <a:t>2,3949       </a:t>
            </a:r>
            <a:r>
              <a:rPr lang="en-US" sz="1000" dirty="0"/>
              <a:t>97.75       97.75</a:t>
            </a:r>
          </a:p>
          <a:p>
            <a:pPr algn="just"/>
            <a:r>
              <a:rPr lang="en-US" sz="1000" dirty="0"/>
              <a:t>                             alone only |         </a:t>
            </a:r>
            <a:r>
              <a:rPr lang="en-US" sz="1000" dirty="0" smtClean="0"/>
              <a:t>3842        </a:t>
            </a:r>
            <a:r>
              <a:rPr lang="en-US" sz="1000" dirty="0"/>
              <a:t>1.55       99.31</a:t>
            </a:r>
          </a:p>
          <a:p>
            <a:pPr algn="just"/>
            <a:r>
              <a:rPr lang="en-US" sz="1000" dirty="0"/>
              <a:t>      jointly with husband/partner only |          </a:t>
            </a:r>
            <a:r>
              <a:rPr lang="en-US" sz="1000" dirty="0" smtClean="0"/>
              <a:t>729        </a:t>
            </a:r>
            <a:r>
              <a:rPr lang="en-US" sz="1000" dirty="0"/>
              <a:t>0.29       99.59</a:t>
            </a:r>
          </a:p>
          <a:p>
            <a:pPr algn="just"/>
            <a:r>
              <a:rPr lang="en-US" sz="1000" dirty="0"/>
              <a:t>         jointly with someone else only |          </a:t>
            </a:r>
            <a:r>
              <a:rPr lang="en-US" sz="1000" dirty="0" smtClean="0"/>
              <a:t>111        </a:t>
            </a:r>
            <a:r>
              <a:rPr lang="en-US" sz="1000" dirty="0"/>
              <a:t>0.04       99.63</a:t>
            </a:r>
          </a:p>
          <a:p>
            <a:pPr algn="just"/>
            <a:r>
              <a:rPr lang="en-US" sz="1000" dirty="0"/>
              <a:t>jointly with husband/partner and </a:t>
            </a:r>
            <a:r>
              <a:rPr lang="en-US" sz="1000" dirty="0" err="1"/>
              <a:t>someon</a:t>
            </a:r>
            <a:r>
              <a:rPr lang="en-US" sz="1000" dirty="0"/>
              <a:t> |          </a:t>
            </a:r>
            <a:r>
              <a:rPr lang="en-US" sz="1000" dirty="0" smtClean="0"/>
              <a:t>1500        </a:t>
            </a:r>
            <a:r>
              <a:rPr lang="en-US" sz="1000" dirty="0"/>
              <a:t>0.20       99.84</a:t>
            </a:r>
          </a:p>
          <a:p>
            <a:pPr algn="just"/>
            <a:r>
              <a:rPr lang="en-US" sz="1000" dirty="0"/>
              <a:t>                 both alone and jointly |          </a:t>
            </a:r>
            <a:r>
              <a:rPr lang="en-US" sz="1000" dirty="0" smtClean="0"/>
              <a:t>480       </a:t>
            </a:r>
            <a:r>
              <a:rPr lang="en-US" sz="1000" dirty="0"/>
              <a:t>0.16      100.00</a:t>
            </a:r>
          </a:p>
          <a:p>
            <a:pPr algn="just"/>
            <a:r>
              <a:rPr lang="en-US" sz="1000" dirty="0"/>
              <a:t>----------------------------------------+-----------------------------------</a:t>
            </a:r>
          </a:p>
          <a:p>
            <a:pPr algn="just"/>
            <a:r>
              <a:rPr lang="en-US" sz="1000" dirty="0"/>
              <a:t>                                  Total |      </a:t>
            </a:r>
            <a:r>
              <a:rPr lang="en-US" sz="1000" dirty="0" smtClean="0"/>
              <a:t>30,078      </a:t>
            </a:r>
            <a:r>
              <a:rPr lang="en-US" sz="1000" dirty="0"/>
              <a:t>100.00</a:t>
            </a:r>
          </a:p>
        </p:txBody>
      </p:sp>
    </p:spTree>
    <p:extLst>
      <p:ext uri="{BB962C8B-B14F-4D97-AF65-F5344CB8AC3E}">
        <p14:creationId xmlns:p14="http://schemas.microsoft.com/office/powerpoint/2010/main" val="158907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1258529"/>
            <a:ext cx="724637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                       division</a:t>
            </a:r>
          </a:p>
          <a:p>
            <a:pPr algn="just"/>
            <a:r>
              <a:rPr lang="en-US" sz="1000" dirty="0"/>
              <a:t>                proxy |  </a:t>
            </a:r>
            <a:r>
              <a:rPr lang="en-US" sz="1000" dirty="0" err="1"/>
              <a:t>barishal</a:t>
            </a:r>
            <a:r>
              <a:rPr lang="en-US" sz="1000" dirty="0"/>
              <a:t>  </a:t>
            </a:r>
            <a:r>
              <a:rPr lang="en-US" sz="1000" dirty="0" err="1"/>
              <a:t>chattogra</a:t>
            </a:r>
            <a:r>
              <a:rPr lang="en-US" sz="1000" dirty="0"/>
              <a:t>      </a:t>
            </a:r>
            <a:r>
              <a:rPr lang="en-US" sz="1000" dirty="0" err="1"/>
              <a:t>dhaka</a:t>
            </a:r>
            <a:r>
              <a:rPr lang="en-US" sz="1000" dirty="0"/>
              <a:t>     </a:t>
            </a:r>
            <a:r>
              <a:rPr lang="en-US" sz="1000" dirty="0" err="1"/>
              <a:t>khulna</a:t>
            </a:r>
            <a:r>
              <a:rPr lang="en-US" sz="1000" dirty="0"/>
              <a:t>  </a:t>
            </a:r>
            <a:r>
              <a:rPr lang="en-US" sz="1000" dirty="0" err="1"/>
              <a:t>mymensing</a:t>
            </a:r>
            <a:r>
              <a:rPr lang="en-US" sz="1000" dirty="0"/>
              <a:t>   </a:t>
            </a:r>
            <a:r>
              <a:rPr lang="en-US" sz="1000" dirty="0" err="1"/>
              <a:t>rajshahi</a:t>
            </a:r>
            <a:r>
              <a:rPr lang="en-US" sz="1000" dirty="0"/>
              <a:t>    </a:t>
            </a:r>
            <a:r>
              <a:rPr lang="en-US" sz="1000" dirty="0" err="1"/>
              <a:t>rangpur</a:t>
            </a:r>
            <a:r>
              <a:rPr lang="en-US" sz="1000" dirty="0"/>
              <a:t>     </a:t>
            </a:r>
            <a:r>
              <a:rPr lang="en-US" sz="1000" dirty="0" err="1"/>
              <a:t>sylhet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2970        6452        3355        7244        4289        2205        3246        5320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</a:t>
            </a:r>
            <a:r>
              <a:rPr lang="en-US" sz="1000" dirty="0" smtClean="0"/>
              <a:t>	           </a:t>
            </a:r>
            <a:r>
              <a:rPr lang="en-US" sz="1000" dirty="0"/>
              <a:t>|     12.08      18.83      14.79      10.16      12.04       8.54      10.25      13.33 |    100.00 </a:t>
            </a:r>
          </a:p>
          <a:p>
            <a:pPr algn="just"/>
            <a:r>
              <a:rPr lang="en-US" sz="1000" dirty="0"/>
              <a:t>----------------------+----------------------------------------------------------------------------------------+----------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 smtClean="0"/>
              <a:t>ov</a:t>
            </a:r>
            <a:r>
              <a:rPr lang="en-US" sz="1000" dirty="0" smtClean="0"/>
              <a:t>    </a:t>
            </a:r>
            <a:r>
              <a:rPr lang="en-US" sz="1000" dirty="0"/>
              <a:t>|         8          8          7          3          6          6          7          3 |        48 </a:t>
            </a:r>
          </a:p>
          <a:p>
            <a:pPr algn="just"/>
            <a:r>
              <a:rPr lang="en-US" sz="1000" dirty="0"/>
              <a:t>           </a:t>
            </a:r>
            <a:r>
              <a:rPr lang="en-US" sz="1000" dirty="0" smtClean="0"/>
              <a:t>	           </a:t>
            </a:r>
            <a:r>
              <a:rPr lang="en-US" sz="1000" dirty="0"/>
              <a:t>|     16.67      16.67      14.58       6.25      12.50      12.50      14.58       6.25 |    100.00 </a:t>
            </a:r>
          </a:p>
          <a:p>
            <a:pPr algn="just"/>
            <a:r>
              <a:rPr lang="en-US" sz="1000" dirty="0"/>
              <a:t>----------------------+----------------------------------------------------------------------------------------+----------</a:t>
            </a:r>
          </a:p>
          <a:p>
            <a:pPr algn="just"/>
            <a:r>
              <a:rPr lang="en-US" sz="1000" dirty="0"/>
              <a:t>                </a:t>
            </a:r>
            <a:r>
              <a:rPr lang="en-US" sz="1000" dirty="0" smtClean="0"/>
              <a:t>Total	 </a:t>
            </a:r>
            <a:r>
              <a:rPr lang="en-US" sz="1000" dirty="0"/>
              <a:t>|       </a:t>
            </a:r>
            <a:r>
              <a:rPr lang="en-US" sz="1000" dirty="0" smtClean="0"/>
              <a:t>1298        3460        13362        6247        1295        2211        9253        12323 </a:t>
            </a:r>
            <a:r>
              <a:rPr lang="en-US" sz="1000" dirty="0"/>
              <a:t>|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</a:t>
            </a:r>
            <a:r>
              <a:rPr lang="en-US" sz="1000" dirty="0" smtClean="0"/>
              <a:t>                    </a:t>
            </a:r>
            <a:r>
              <a:rPr lang="en-US" sz="1000" dirty="0"/>
              <a:t>|     12.17      18.78      14.78      10.09      12.05       8.62      10.33      13.19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chi2(7) =   5.1567   </a:t>
            </a:r>
            <a:r>
              <a:rPr lang="en-US" sz="1000" dirty="0" err="1"/>
              <a:t>Pr</a:t>
            </a:r>
            <a:r>
              <a:rPr lang="en-US" sz="1000" dirty="0"/>
              <a:t> = 0.641</a:t>
            </a:r>
          </a:p>
        </p:txBody>
      </p:sp>
    </p:spTree>
    <p:extLst>
      <p:ext uri="{BB962C8B-B14F-4D97-AF65-F5344CB8AC3E}">
        <p14:creationId xmlns:p14="http://schemas.microsoft.com/office/powerpoint/2010/main" val="2755562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1258529"/>
            <a:ext cx="340196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High BMI z-score (&gt;2 |</a:t>
            </a:r>
          </a:p>
          <a:p>
            <a:pPr algn="just"/>
            <a:r>
              <a:rPr lang="en-US" sz="1000" dirty="0"/>
              <a:t>                SD) — |   type of place of</a:t>
            </a:r>
          </a:p>
          <a:p>
            <a:pPr algn="just"/>
            <a:r>
              <a:rPr lang="en-US" sz="1000" dirty="0"/>
              <a:t>   overweight/obesity |       residence</a:t>
            </a:r>
          </a:p>
          <a:p>
            <a:pPr algn="just"/>
            <a:r>
              <a:rPr lang="en-US" sz="1000" dirty="0"/>
              <a:t>              </a:t>
            </a:r>
            <a:r>
              <a:rPr lang="en-US" sz="1000" dirty="0" smtClean="0"/>
              <a:t>	            </a:t>
            </a:r>
            <a:r>
              <a:rPr lang="en-US" sz="1000" dirty="0"/>
              <a:t>proxy |     urban      rural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 </a:t>
            </a:r>
            <a:r>
              <a:rPr lang="en-US" sz="1000" dirty="0" smtClean="0"/>
              <a:t>8 </a:t>
            </a:r>
            <a:r>
              <a:rPr lang="en-US" sz="1000" dirty="0"/>
              <a:t>848      </a:t>
            </a:r>
            <a:r>
              <a:rPr lang="en-US" sz="1000" dirty="0" smtClean="0"/>
              <a:t>1,5536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</a:t>
            </a:r>
            <a:r>
              <a:rPr lang="en-US" sz="1000" dirty="0" smtClean="0"/>
              <a:t>	          </a:t>
            </a:r>
            <a:r>
              <a:rPr lang="en-US" sz="1000" dirty="0"/>
              <a:t>|     35.32      64.68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 smtClean="0"/>
              <a:t>ov</a:t>
            </a:r>
            <a:r>
              <a:rPr lang="en-US" sz="1000" dirty="0" smtClean="0"/>
              <a:t>    </a:t>
            </a:r>
            <a:r>
              <a:rPr lang="en-US" sz="1000" dirty="0"/>
              <a:t>|        15         33 |        48 </a:t>
            </a:r>
          </a:p>
          <a:p>
            <a:pPr algn="just"/>
            <a:r>
              <a:rPr lang="en-US" sz="1000" dirty="0"/>
              <a:t>                     </a:t>
            </a:r>
            <a:r>
              <a:rPr lang="en-US" sz="1000" dirty="0" smtClean="0"/>
              <a:t>                      </a:t>
            </a:r>
            <a:r>
              <a:rPr lang="en-US" sz="1000" dirty="0"/>
              <a:t>|     31.25      68.75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</a:t>
            </a:r>
            <a:r>
              <a:rPr lang="en-US" sz="1000" dirty="0" smtClean="0"/>
              <a:t>                 |      8 </a:t>
            </a:r>
            <a:r>
              <a:rPr lang="en-US" sz="1000" dirty="0"/>
              <a:t>863      </a:t>
            </a:r>
            <a:r>
              <a:rPr lang="en-US" sz="1000" dirty="0" smtClean="0"/>
              <a:t>1,5869 </a:t>
            </a:r>
            <a:r>
              <a:rPr lang="en-US" sz="1000" dirty="0"/>
              <a:t>|     30,078</a:t>
            </a:r>
          </a:p>
          <a:p>
            <a:pPr algn="just"/>
            <a:r>
              <a:rPr lang="en-US" sz="1000" dirty="0" smtClean="0"/>
              <a:t> </a:t>
            </a:r>
            <a:endParaRPr lang="en-US" sz="1000" dirty="0"/>
          </a:p>
          <a:p>
            <a:pPr algn="just"/>
            <a:r>
              <a:rPr lang="en-US" sz="1000" dirty="0"/>
              <a:t>                 </a:t>
            </a:r>
            <a:r>
              <a:rPr lang="en-US" sz="1000" dirty="0" smtClean="0"/>
              <a:t>                          </a:t>
            </a:r>
            <a:r>
              <a:rPr lang="en-US" sz="1000" dirty="0"/>
              <a:t>|     35.24      64.76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0.3414   </a:t>
            </a:r>
            <a:r>
              <a:rPr lang="en-US" sz="1000" dirty="0" err="1"/>
              <a:t>Pr</a:t>
            </a:r>
            <a:r>
              <a:rPr lang="en-US" sz="1000" dirty="0"/>
              <a:t> = 0.559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8099" y="1312606"/>
            <a:ext cx="428193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highest educational level</a:t>
            </a:r>
          </a:p>
          <a:p>
            <a:pPr algn="just"/>
            <a:r>
              <a:rPr lang="en-US" sz="1000" dirty="0"/>
              <a:t>                proxy | no </a:t>
            </a:r>
            <a:r>
              <a:rPr lang="en-US" sz="1000" dirty="0" err="1"/>
              <a:t>educat</a:t>
            </a:r>
            <a:r>
              <a:rPr lang="en-US" sz="1000" dirty="0"/>
              <a:t>    primary  secondary     higher |     Total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Normal/Low BMI-Z (≤2  |      1</a:t>
            </a:r>
            <a:r>
              <a:rPr lang="en-US" sz="1000" dirty="0" smtClean="0"/>
              <a:t>136        7550      1,2740        4441 </a:t>
            </a:r>
            <a:r>
              <a:rPr lang="en-US" sz="1000" dirty="0"/>
              <a:t>|     30,078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         |      5.66      22.91      53.06      18.37 |    100.00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1          7         27         13 |        48 </a:t>
            </a:r>
          </a:p>
          <a:p>
            <a:pPr algn="just"/>
            <a:r>
              <a:rPr lang="en-US" sz="1000" dirty="0"/>
              <a:t>                      |      2.08      14.58      56.25      27.08 |    100.00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                Total |       </a:t>
            </a:r>
            <a:r>
              <a:rPr lang="en-US" sz="1000" dirty="0" smtClean="0"/>
              <a:t>3137        7557      1,3015        5454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 5.59      22.74      53.12      18.54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chi2(3) =   4.5308   </a:t>
            </a:r>
            <a:r>
              <a:rPr lang="en-US" sz="1000" dirty="0" err="1"/>
              <a:t>Pr</a:t>
            </a:r>
            <a:r>
              <a:rPr lang="en-US" sz="1000" dirty="0"/>
              <a:t> = 0.210</a:t>
            </a:r>
          </a:p>
        </p:txBody>
      </p:sp>
    </p:spTree>
    <p:extLst>
      <p:ext uri="{BB962C8B-B14F-4D97-AF65-F5344CB8AC3E}">
        <p14:creationId xmlns:p14="http://schemas.microsoft.com/office/powerpoint/2010/main" val="3424946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1258529"/>
            <a:ext cx="340196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   household has:</a:t>
            </a:r>
          </a:p>
          <a:p>
            <a:pPr algn="just"/>
            <a:r>
              <a:rPr lang="en-US" sz="1000" dirty="0"/>
              <a:t>   overweight/obesity |      electricity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   </a:t>
            </a:r>
            <a:r>
              <a:rPr lang="en-US" sz="1000" dirty="0" smtClean="0"/>
              <a:t>6570      2,3730 </a:t>
            </a:r>
            <a:r>
              <a:rPr lang="en-US" sz="1000" dirty="0"/>
              <a:t>|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  |      1.17      98.83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1         47 |        48 </a:t>
            </a:r>
          </a:p>
          <a:p>
            <a:pPr algn="just"/>
            <a:r>
              <a:rPr lang="en-US" sz="1000" dirty="0"/>
              <a:t>                      |      2.08      97.92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   </a:t>
            </a:r>
            <a:r>
              <a:rPr lang="en-US" sz="1000" dirty="0" smtClean="0"/>
              <a:t>5793      2,4209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 1.18      98.82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0.3383   </a:t>
            </a:r>
            <a:r>
              <a:rPr lang="en-US" sz="1000" dirty="0" err="1"/>
              <a:t>Pr</a:t>
            </a:r>
            <a:r>
              <a:rPr lang="en-US" sz="1000" dirty="0"/>
              <a:t> = 0.561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447" y="1066800"/>
            <a:ext cx="340196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   household has:</a:t>
            </a:r>
          </a:p>
          <a:p>
            <a:pPr algn="just"/>
            <a:r>
              <a:rPr lang="en-US" sz="1000" dirty="0"/>
              <a:t>   overweight/obesity |      television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1,4977     1,6245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49.02      50.98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17         31 |        48 </a:t>
            </a:r>
          </a:p>
          <a:p>
            <a:pPr algn="just"/>
            <a:r>
              <a:rPr lang="en-US" sz="1000" dirty="0"/>
              <a:t>                      |     35.42      64.58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1,5023      1,6557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48.75      51.25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3.4861   </a:t>
            </a:r>
            <a:r>
              <a:rPr lang="en-US" sz="1000" dirty="0" err="1"/>
              <a:t>Pr</a:t>
            </a:r>
            <a:r>
              <a:rPr lang="en-US" sz="1000" dirty="0"/>
              <a:t> = 0.062</a:t>
            </a:r>
          </a:p>
        </p:txBody>
      </p:sp>
    </p:spTree>
    <p:extLst>
      <p:ext uri="{BB962C8B-B14F-4D97-AF65-F5344CB8AC3E}">
        <p14:creationId xmlns:p14="http://schemas.microsoft.com/office/powerpoint/2010/main" val="2844184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1258529"/>
            <a:ext cx="340196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sex of household head</a:t>
            </a:r>
          </a:p>
          <a:p>
            <a:pPr algn="just"/>
            <a:r>
              <a:rPr lang="en-US" sz="1000" dirty="0"/>
              <a:t>                proxy |      male     female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2,1010        8000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</a:t>
            </a:r>
            <a:r>
              <a:rPr lang="en-US" sz="1000" dirty="0" smtClean="0"/>
              <a:t>	          </a:t>
            </a:r>
            <a:r>
              <a:rPr lang="en-US" sz="1000" dirty="0"/>
              <a:t>|     87.51      12.49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39          9 |        48 </a:t>
            </a:r>
          </a:p>
          <a:p>
            <a:pPr algn="just"/>
            <a:r>
              <a:rPr lang="en-US" sz="1000" dirty="0"/>
              <a:t>                      |     81.25      18.75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2,7740        3439 </a:t>
            </a:r>
            <a:r>
              <a:rPr lang="en-US" sz="1000" dirty="0"/>
              <a:t>|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  |     87.38      12.62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1.6701   </a:t>
            </a:r>
            <a:r>
              <a:rPr lang="en-US" sz="1000" dirty="0" err="1"/>
              <a:t>Pr</a:t>
            </a:r>
            <a:r>
              <a:rPr lang="en-US" sz="1000" dirty="0"/>
              <a:t> = 0.196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447" y="1302777"/>
            <a:ext cx="399680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use of internet</a:t>
            </a:r>
          </a:p>
          <a:p>
            <a:pPr algn="just"/>
            <a:r>
              <a:rPr lang="en-US" sz="1000" dirty="0"/>
              <a:t>                proxy |     never  yes, last  yes, </a:t>
            </a:r>
            <a:r>
              <a:rPr lang="en-US" sz="1000" dirty="0" err="1"/>
              <a:t>befo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1,6197        3768         1514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67.43      31.99       0.58 |    100.00 </a:t>
            </a:r>
          </a:p>
          <a:p>
            <a:pPr algn="just"/>
            <a:r>
              <a:rPr lang="en-US" sz="1000" dirty="0"/>
              <a:t>----------------------+---------------------------------+----------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23         25          0 |        48 </a:t>
            </a:r>
          </a:p>
          <a:p>
            <a:pPr algn="just"/>
            <a:r>
              <a:rPr lang="en-US" sz="1000" dirty="0"/>
              <a:t>                      |     47.92      52.08       0.00 |    100.00 </a:t>
            </a:r>
          </a:p>
          <a:p>
            <a:pPr algn="just"/>
            <a:r>
              <a:rPr lang="en-US" sz="1000" dirty="0"/>
              <a:t>----------------------+---------------------------------+----------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1,6429        7593         3214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  |     67.05      32.38       0.57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chi2(2) =   8.8221   </a:t>
            </a:r>
            <a:r>
              <a:rPr lang="en-US" sz="1000" dirty="0" err="1"/>
              <a:t>Pr</a:t>
            </a:r>
            <a:r>
              <a:rPr lang="en-US" sz="1000" dirty="0"/>
              <a:t> = 0.012</a:t>
            </a:r>
          </a:p>
        </p:txBody>
      </p:sp>
    </p:spTree>
    <p:extLst>
      <p:ext uri="{BB962C8B-B14F-4D97-AF65-F5344CB8AC3E}">
        <p14:creationId xmlns:p14="http://schemas.microsoft.com/office/powerpoint/2010/main" val="718263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875073"/>
            <a:ext cx="517176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wealth index combined</a:t>
            </a:r>
          </a:p>
          <a:p>
            <a:pPr algn="just"/>
            <a:r>
              <a:rPr lang="en-US" sz="1000" dirty="0"/>
              <a:t>                proxy |   poorest     poorer     middle     richer    richest |     Total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5471        5451        5476       5 </a:t>
            </a:r>
            <a:r>
              <a:rPr lang="en-US" sz="1000" dirty="0"/>
              <a:t>484        </a:t>
            </a:r>
            <a:r>
              <a:rPr lang="en-US" sz="1000" dirty="0" smtClean="0"/>
              <a:t>7519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19.62      18.78      19.83      20.16      21.62 |    100.00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8          7          8         12         13 |        48 </a:t>
            </a:r>
          </a:p>
          <a:p>
            <a:pPr algn="just"/>
            <a:r>
              <a:rPr lang="en-US" sz="1000" dirty="0"/>
              <a:t>                      |     16.67      14.58      16.67      25.00      27.08 |    100.00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               Total |       </a:t>
            </a:r>
            <a:r>
              <a:rPr lang="en-US" sz="1000" dirty="0" smtClean="0"/>
              <a:t>6479        6458        6484        6496        1532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19.56      18.70      19.76      20.25      21.72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chi2(4) =   2.0832   </a:t>
            </a:r>
            <a:r>
              <a:rPr lang="en-US" sz="1000" dirty="0" err="1"/>
              <a:t>Pr</a:t>
            </a:r>
            <a:r>
              <a:rPr lang="en-US" sz="1000" dirty="0"/>
              <a:t> = 0.720</a:t>
            </a:r>
          </a:p>
        </p:txBody>
      </p:sp>
    </p:spTree>
    <p:extLst>
      <p:ext uri="{BB962C8B-B14F-4D97-AF65-F5344CB8AC3E}">
        <p14:creationId xmlns:p14="http://schemas.microsoft.com/office/powerpoint/2010/main" val="2217829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875073"/>
            <a:ext cx="51717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current marital status</a:t>
            </a:r>
          </a:p>
          <a:p>
            <a:pPr algn="just"/>
            <a:r>
              <a:rPr lang="en-US" sz="1000" dirty="0"/>
              <a:t>                proxy |   married    widowed   divorced  no longer |     Total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2,8754          800          732         131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98.92       0.33       0.29       0.46 |    100.00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48          0          0          0 |        48 </a:t>
            </a:r>
          </a:p>
          <a:p>
            <a:pPr algn="just"/>
            <a:r>
              <a:rPr lang="en-US" sz="1000" dirty="0"/>
              <a:t>                      |    100.00       0.00       0.00       0.00 |    100.00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2,923          678          387         191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  |     98.94       0.33       0.29       0.45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chi2(3) =   0.5254   </a:t>
            </a:r>
            <a:r>
              <a:rPr lang="en-US" sz="1000" dirty="0" err="1"/>
              <a:t>Pr</a:t>
            </a:r>
            <a:r>
              <a:rPr lang="en-US" sz="1000" dirty="0"/>
              <a:t> = 0.913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240606" y="1258529"/>
            <a:ext cx="400172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respondent has a job,</a:t>
            </a:r>
          </a:p>
          <a:p>
            <a:pPr algn="just"/>
            <a:r>
              <a:rPr lang="en-US" sz="1000" dirty="0"/>
              <a:t>   overweight/obesity | but currently absent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2,990         141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99.54       0.46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48          0 |        48 </a:t>
            </a:r>
          </a:p>
          <a:p>
            <a:pPr algn="just"/>
            <a:r>
              <a:rPr lang="en-US" sz="1000" dirty="0"/>
              <a:t>                      |    100.00       0.00 |    100.00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2,938         151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99.55       0.45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0.2209   </a:t>
            </a:r>
            <a:r>
              <a:rPr lang="en-US" sz="1000" dirty="0" err="1"/>
              <a:t>Pr</a:t>
            </a:r>
            <a:r>
              <a:rPr lang="en-US" sz="1000" dirty="0"/>
              <a:t> = 0.638</a:t>
            </a:r>
          </a:p>
        </p:txBody>
      </p:sp>
    </p:spTree>
    <p:extLst>
      <p:ext uri="{BB962C8B-B14F-4D97-AF65-F5344CB8AC3E}">
        <p14:creationId xmlns:p14="http://schemas.microsoft.com/office/powerpoint/2010/main" val="3105355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smtClean="0"/>
              <a:t>BMI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Rectangle 4"/>
          <p:cNvSpPr/>
          <p:nvPr/>
        </p:nvSpPr>
        <p:spPr>
          <a:xfrm>
            <a:off x="796413" y="1258529"/>
            <a:ext cx="789038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   owns land alone or jointly</a:t>
            </a:r>
          </a:p>
          <a:p>
            <a:pPr algn="just"/>
            <a:r>
              <a:rPr lang="en-US" sz="1000" dirty="0"/>
              <a:t>                proxy | does not   alone </a:t>
            </a:r>
            <a:r>
              <a:rPr lang="en-US" sz="1000" dirty="0" err="1"/>
              <a:t>onl</a:t>
            </a:r>
            <a:r>
              <a:rPr lang="en-US" sz="1000" dirty="0"/>
              <a:t>  jointly w  jointly w  jointly w  both </a:t>
            </a:r>
            <a:r>
              <a:rPr lang="en-US" sz="1000" dirty="0" err="1"/>
              <a:t>alon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2,747         2568          713          161          598          323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r>
              <a:rPr lang="en-US" sz="1000" dirty="0"/>
              <a:t>                      |     97.75       1.58       0.29       0.04       0.21       0.12 |    100.00 </a:t>
            </a:r>
          </a:p>
          <a:p>
            <a:pPr algn="just"/>
            <a:r>
              <a:rPr lang="en-US" sz="1000" dirty="0"/>
              <a:t>----------------------+------------------------------------------------------------------+----------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47          0          0          0          0          1 |        48 </a:t>
            </a:r>
          </a:p>
          <a:p>
            <a:pPr algn="just"/>
            <a:r>
              <a:rPr lang="en-US" sz="1000" dirty="0"/>
              <a:t>                      |     97.92       0.00       0.00       0.00       0.00       2.08 |    100.00 </a:t>
            </a:r>
          </a:p>
          <a:p>
            <a:pPr algn="just"/>
            <a:r>
              <a:rPr lang="en-US" sz="1000" dirty="0"/>
              <a:t>----------------------+------------------------------------------------------------------+----------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2,994         378          117          111          153          114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r>
              <a:rPr lang="en-US" sz="1000" dirty="0"/>
              <a:t>                      |     97.75       1.55       0.29       0.04       0.20       0.16 |    100.00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chi2(5) =  12.0699   </a:t>
            </a:r>
            <a:r>
              <a:rPr lang="en-US" sz="1000" dirty="0" err="1"/>
              <a:t>Pr</a:t>
            </a:r>
            <a:r>
              <a:rPr lang="en-US" sz="1000" dirty="0"/>
              <a:t> = 0.034</a:t>
            </a:r>
          </a:p>
        </p:txBody>
      </p:sp>
    </p:spTree>
    <p:extLst>
      <p:ext uri="{BB962C8B-B14F-4D97-AF65-F5344CB8AC3E}">
        <p14:creationId xmlns:p14="http://schemas.microsoft.com/office/powerpoint/2010/main" val="2517591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CORRELATION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division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division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division |  -0.0096   1.0000 </a:t>
            </a:r>
          </a:p>
          <a:p>
            <a:pPr algn="just"/>
            <a:r>
              <a:rPr lang="en-US" sz="1000" dirty="0"/>
              <a:t>             |   0.6348</a:t>
            </a:r>
          </a:p>
        </p:txBody>
      </p:sp>
      <p:sp>
        <p:nvSpPr>
          <p:cNvPr id="7" name="Rectangle 6"/>
          <p:cNvSpPr/>
          <p:nvPr/>
        </p:nvSpPr>
        <p:spPr>
          <a:xfrm>
            <a:off x="4886644" y="941352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residence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</a:t>
            </a:r>
            <a:r>
              <a:rPr lang="en-US" sz="1000" dirty="0" err="1"/>
              <a:t>reside~e</a:t>
            </a:r>
            <a:endParaRPr lang="en-US" sz="1000" dirty="0"/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residence |   0.0118   1.0000 </a:t>
            </a:r>
          </a:p>
          <a:p>
            <a:pPr algn="just"/>
            <a:r>
              <a:rPr lang="en-US" sz="1000" dirty="0"/>
              <a:t>             |   0.5592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89006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education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</a:t>
            </a:r>
            <a:r>
              <a:rPr lang="en-US" sz="1000" dirty="0" err="1"/>
              <a:t>educat~n</a:t>
            </a:r>
            <a:endParaRPr lang="en-US" sz="1000" dirty="0"/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education |   0.0429   1.0000 </a:t>
            </a:r>
          </a:p>
          <a:p>
            <a:pPr algn="just"/>
            <a:r>
              <a:rPr lang="en-US" sz="1000" dirty="0"/>
              <a:t>             |   0.0340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0606" y="2842315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electricity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</a:t>
            </a:r>
            <a:r>
              <a:rPr lang="en-US" sz="1000" dirty="0" err="1"/>
              <a:t>electr~y</a:t>
            </a:r>
            <a:endParaRPr lang="en-US" sz="1000" dirty="0"/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electricity |  -0.0118   1.0000 </a:t>
            </a:r>
          </a:p>
          <a:p>
            <a:pPr algn="just"/>
            <a:r>
              <a:rPr lang="en-US" sz="1000" dirty="0"/>
              <a:t>             |   0.5610</a:t>
            </a:r>
          </a:p>
        </p:txBody>
      </p:sp>
    </p:spTree>
    <p:extLst>
      <p:ext uri="{BB962C8B-B14F-4D97-AF65-F5344CB8AC3E}">
        <p14:creationId xmlns:p14="http://schemas.microsoft.com/office/powerpoint/2010/main" val="126267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CORRELATION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Correlation: </a:t>
            </a:r>
            <a:r>
              <a:rPr lang="en-US" sz="1000" dirty="0" err="1"/>
              <a:t>high_bmiz</a:t>
            </a:r>
            <a:r>
              <a:rPr lang="en-US" sz="1000" dirty="0"/>
              <a:t> &amp; television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</a:t>
            </a:r>
            <a:r>
              <a:rPr lang="en-US" sz="1000" dirty="0" err="1"/>
              <a:t>televi~n</a:t>
            </a:r>
            <a:endParaRPr lang="en-US" sz="1000" dirty="0"/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television |   0.0377   1.0000 </a:t>
            </a:r>
          </a:p>
          <a:p>
            <a:pPr algn="just"/>
            <a:r>
              <a:rPr lang="en-US" sz="1000" dirty="0"/>
              <a:t>             |   0.0619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886644" y="941352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</a:t>
            </a:r>
            <a:r>
              <a:rPr lang="en-US" sz="1000" dirty="0" err="1"/>
              <a:t>sexhead</a:t>
            </a:r>
            <a:r>
              <a:rPr lang="en-US" sz="1000" dirty="0"/>
              <a:t>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 </a:t>
            </a:r>
            <a:r>
              <a:rPr lang="en-US" sz="1000" dirty="0" err="1"/>
              <a:t>sexhead</a:t>
            </a:r>
            <a:endParaRPr lang="en-US" sz="1000" dirty="0"/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</a:t>
            </a:r>
            <a:r>
              <a:rPr lang="en-US" sz="1000" dirty="0" err="1"/>
              <a:t>sexhead</a:t>
            </a:r>
            <a:r>
              <a:rPr lang="en-US" sz="1000" dirty="0"/>
              <a:t> |   0.0261   1.0000 </a:t>
            </a:r>
          </a:p>
          <a:p>
            <a:pPr algn="just"/>
            <a:r>
              <a:rPr lang="en-US" sz="1000" dirty="0"/>
              <a:t>             |   0.1964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89006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internet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internet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internet |   0.0542   1.0000 </a:t>
            </a:r>
          </a:p>
          <a:p>
            <a:pPr algn="just"/>
            <a:r>
              <a:rPr lang="en-US" sz="1000" dirty="0"/>
              <a:t>             |   0.0073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0606" y="2842315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wealth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  wealth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wealth |   0.0251   1.0000 </a:t>
            </a:r>
          </a:p>
          <a:p>
            <a:pPr algn="just"/>
            <a:r>
              <a:rPr lang="en-US" sz="1000" dirty="0"/>
              <a:t>             |   0.2138</a:t>
            </a:r>
          </a:p>
        </p:txBody>
      </p:sp>
    </p:spTree>
    <p:extLst>
      <p:ext uri="{BB962C8B-B14F-4D97-AF65-F5344CB8AC3E}">
        <p14:creationId xmlns:p14="http://schemas.microsoft.com/office/powerpoint/2010/main" val="123580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CORRELATION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marital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 marital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marital |  -0.0141   1.0000 </a:t>
            </a:r>
          </a:p>
          <a:p>
            <a:pPr algn="just"/>
            <a:r>
              <a:rPr lang="en-US" sz="1000" dirty="0"/>
              <a:t>             |   0.4846</a:t>
            </a:r>
          </a:p>
        </p:txBody>
      </p:sp>
      <p:sp>
        <p:nvSpPr>
          <p:cNvPr id="7" name="Rectangle 6"/>
          <p:cNvSpPr/>
          <p:nvPr/>
        </p:nvSpPr>
        <p:spPr>
          <a:xfrm>
            <a:off x="4886644" y="941352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employed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| </a:t>
            </a:r>
            <a:r>
              <a:rPr lang="en-US" sz="1000" dirty="0" err="1"/>
              <a:t>high_b~z</a:t>
            </a:r>
            <a:r>
              <a:rPr lang="en-US" sz="1000" dirty="0"/>
              <a:t> employed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employed |  -0.0095   1.0000 </a:t>
            </a:r>
          </a:p>
          <a:p>
            <a:pPr algn="just"/>
            <a:r>
              <a:rPr lang="en-US" sz="1000" dirty="0"/>
              <a:t>             |   0.6385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89006"/>
            <a:ext cx="4001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Correlation: </a:t>
            </a:r>
            <a:r>
              <a:rPr lang="en-US" sz="1000" dirty="0" err="1"/>
              <a:t>high_bmiz</a:t>
            </a:r>
            <a:r>
              <a:rPr lang="en-US" sz="1000" dirty="0"/>
              <a:t> &amp; land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</a:t>
            </a:r>
            <a:r>
              <a:rPr lang="en-US" sz="1000" dirty="0" smtClean="0"/>
              <a:t>             </a:t>
            </a:r>
            <a:r>
              <a:rPr lang="en-US" sz="1000" dirty="0"/>
              <a:t>| </a:t>
            </a:r>
            <a:r>
              <a:rPr lang="en-US" sz="1000" dirty="0" err="1"/>
              <a:t>high_b~z</a:t>
            </a:r>
            <a:r>
              <a:rPr lang="en-US" sz="1000" dirty="0"/>
              <a:t>     land</a:t>
            </a:r>
          </a:p>
          <a:p>
            <a:pPr algn="just"/>
            <a:r>
              <a:rPr lang="en-US" sz="1000" dirty="0"/>
              <a:t>-------------+------------------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  1.0000 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     |</a:t>
            </a:r>
          </a:p>
          <a:p>
            <a:pPr algn="just"/>
            <a:r>
              <a:rPr lang="en-US" sz="1000" dirty="0"/>
              <a:t>        land </a:t>
            </a:r>
            <a:r>
              <a:rPr lang="en-US" sz="1000" dirty="0" smtClean="0"/>
              <a:t>       |   </a:t>
            </a:r>
            <a:r>
              <a:rPr lang="en-US" sz="1000" dirty="0"/>
              <a:t>0.0289   1.0000 </a:t>
            </a:r>
          </a:p>
          <a:p>
            <a:pPr algn="just"/>
            <a:r>
              <a:rPr lang="en-US" sz="1000" dirty="0" smtClean="0"/>
              <a:t>                        </a:t>
            </a:r>
            <a:r>
              <a:rPr lang="en-US" sz="1000" dirty="0"/>
              <a:t>|   0.1534</a:t>
            </a:r>
          </a:p>
        </p:txBody>
      </p:sp>
    </p:spTree>
    <p:extLst>
      <p:ext uri="{BB962C8B-B14F-4D97-AF65-F5344CB8AC3E}">
        <p14:creationId xmlns:p14="http://schemas.microsoft.com/office/powerpoint/2010/main" val="2037285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division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                       division</a:t>
            </a:r>
          </a:p>
          <a:p>
            <a:pPr algn="just"/>
            <a:r>
              <a:rPr lang="en-US" sz="1000" dirty="0"/>
              <a:t>                proxy |  </a:t>
            </a:r>
            <a:r>
              <a:rPr lang="en-US" sz="1000" dirty="0" err="1"/>
              <a:t>barishal</a:t>
            </a:r>
            <a:r>
              <a:rPr lang="en-US" sz="1000" dirty="0"/>
              <a:t>  </a:t>
            </a:r>
            <a:r>
              <a:rPr lang="en-US" sz="1000" dirty="0" err="1"/>
              <a:t>chattogra</a:t>
            </a:r>
            <a:r>
              <a:rPr lang="en-US" sz="1000" dirty="0"/>
              <a:t>      </a:t>
            </a:r>
            <a:r>
              <a:rPr lang="en-US" sz="1000" dirty="0" err="1"/>
              <a:t>dhaka</a:t>
            </a:r>
            <a:r>
              <a:rPr lang="en-US" sz="1000" dirty="0"/>
              <a:t>     </a:t>
            </a:r>
            <a:r>
              <a:rPr lang="en-US" sz="1000" dirty="0" err="1"/>
              <a:t>khulna</a:t>
            </a:r>
            <a:r>
              <a:rPr lang="en-US" sz="1000" dirty="0"/>
              <a:t>  </a:t>
            </a:r>
            <a:r>
              <a:rPr lang="en-US" sz="1000" dirty="0" err="1"/>
              <a:t>mymensing</a:t>
            </a:r>
            <a:r>
              <a:rPr lang="en-US" sz="1000" dirty="0"/>
              <a:t>   </a:t>
            </a:r>
            <a:r>
              <a:rPr lang="en-US" sz="1000" dirty="0" err="1"/>
              <a:t>rajshahi</a:t>
            </a:r>
            <a:r>
              <a:rPr lang="en-US" sz="1000" dirty="0"/>
              <a:t>    </a:t>
            </a:r>
            <a:r>
              <a:rPr lang="en-US" sz="1000" dirty="0" err="1"/>
              <a:t>rangpur</a:t>
            </a:r>
            <a:r>
              <a:rPr lang="en-US" sz="1000" dirty="0"/>
              <a:t>     </a:t>
            </a:r>
            <a:r>
              <a:rPr lang="en-US" sz="1000" dirty="0" err="1"/>
              <a:t>sylhet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18090        4252        3155        2144        2289        2055        2476        3201 </a:t>
            </a:r>
            <a:r>
              <a:rPr lang="en-US" sz="1000" dirty="0"/>
              <a:t>|    </a:t>
            </a:r>
            <a:r>
              <a:rPr lang="en-US" sz="1000" dirty="0" smtClean="0"/>
              <a:t>30,038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8          8          7          3          6          6          7          3 |        48 </a:t>
            </a:r>
          </a:p>
          <a:p>
            <a:pPr algn="just"/>
            <a:r>
              <a:rPr lang="en-US" sz="1000" dirty="0"/>
              <a:t>----------------------+----------------------------------------------------------------------------------------+----------</a:t>
            </a:r>
          </a:p>
          <a:p>
            <a:r>
              <a:rPr lang="en-US" sz="1000" dirty="0"/>
              <a:t>                Total |       298        460        362        247        295        211        253        323 |     30,078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chi2(7) =   5.1567   </a:t>
            </a:r>
            <a:r>
              <a:rPr lang="en-US" sz="1000" dirty="0" err="1"/>
              <a:t>Pr</a:t>
            </a:r>
            <a:r>
              <a:rPr lang="en-US" sz="1000" dirty="0"/>
              <a:t> = 0.641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1613" y="2969678"/>
            <a:ext cx="438518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residence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  type of place of</a:t>
            </a:r>
          </a:p>
          <a:p>
            <a:pPr algn="just"/>
            <a:r>
              <a:rPr lang="en-US" sz="1000" dirty="0"/>
              <a:t>   overweight/obesity |       residence</a:t>
            </a:r>
          </a:p>
          <a:p>
            <a:pPr algn="just"/>
            <a:r>
              <a:rPr lang="en-US" sz="1000" dirty="0"/>
              <a:t>                proxy |     urban      rural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2848      27,553 </a:t>
            </a:r>
            <a:r>
              <a:rPr lang="en-US" sz="1000" dirty="0"/>
              <a:t>|    </a:t>
            </a:r>
            <a:r>
              <a:rPr lang="en-US" sz="1000" dirty="0" smtClean="0"/>
              <a:t>30,038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15         33 |        48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 </a:t>
            </a:r>
            <a:r>
              <a:rPr lang="en-US" sz="1000" dirty="0" smtClean="0"/>
              <a:t>2863      27586 </a:t>
            </a:r>
            <a:r>
              <a:rPr lang="en-US" sz="1000" dirty="0"/>
              <a:t>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0.3414   </a:t>
            </a:r>
            <a:r>
              <a:rPr lang="en-US" sz="1000" dirty="0" err="1"/>
              <a:t>Pr</a:t>
            </a:r>
            <a:r>
              <a:rPr lang="en-US" sz="1000" dirty="0"/>
              <a:t> = 0.559</a:t>
            </a:r>
          </a:p>
        </p:txBody>
      </p:sp>
    </p:spTree>
    <p:extLst>
      <p:ext uri="{BB962C8B-B14F-4D97-AF65-F5344CB8AC3E}">
        <p14:creationId xmlns:p14="http://schemas.microsoft.com/office/powerpoint/2010/main" val="3085077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education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highest educational level</a:t>
            </a:r>
          </a:p>
          <a:p>
            <a:pPr algn="just"/>
            <a:r>
              <a:rPr lang="en-US" sz="1000" dirty="0"/>
              <a:t>                proxy | no </a:t>
            </a:r>
            <a:r>
              <a:rPr lang="en-US" sz="1000" dirty="0" err="1"/>
              <a:t>educat</a:t>
            </a:r>
            <a:r>
              <a:rPr lang="en-US" sz="1000" dirty="0"/>
              <a:t>    primary  secondary     higher |     Total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1936        5850      26074        3441 </a:t>
            </a:r>
            <a:r>
              <a:rPr lang="en-US" sz="1000" dirty="0"/>
              <a:t>|    </a:t>
            </a:r>
            <a:r>
              <a:rPr lang="en-US" sz="1000" dirty="0" smtClean="0"/>
              <a:t>30,038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1          7         27         13 |        48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                Total |       </a:t>
            </a:r>
            <a:r>
              <a:rPr lang="en-US" sz="1000" dirty="0" smtClean="0"/>
              <a:t>1937        5857      2608701        3454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chi2(3) =   4.5308   </a:t>
            </a:r>
            <a:r>
              <a:rPr lang="en-US" sz="1000" dirty="0" err="1"/>
              <a:t>Pr</a:t>
            </a:r>
            <a:r>
              <a:rPr lang="en-US" sz="1000" dirty="0"/>
              <a:t> = 0.210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4064" y="941353"/>
            <a:ext cx="422295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1000" dirty="0"/>
          </a:p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electricity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   household has:</a:t>
            </a:r>
          </a:p>
          <a:p>
            <a:pPr algn="just"/>
            <a:r>
              <a:rPr lang="en-US" sz="1000" dirty="0"/>
              <a:t>   overweight/obesity |      electricity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   </a:t>
            </a:r>
            <a:r>
              <a:rPr lang="en-US" sz="1000" dirty="0" smtClean="0"/>
              <a:t>928      2,9373 </a:t>
            </a:r>
            <a:r>
              <a:rPr lang="en-US" sz="1000" dirty="0"/>
              <a:t>|     </a:t>
            </a:r>
            <a:r>
              <a:rPr lang="en-US" sz="1000" dirty="0" smtClean="0"/>
              <a:t>30,038 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1         47 |        48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   </a:t>
            </a:r>
            <a:r>
              <a:rPr lang="en-US" sz="1000" dirty="0" smtClean="0"/>
              <a:t>929      2,9320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0.3383   </a:t>
            </a:r>
            <a:r>
              <a:rPr lang="en-US" sz="1000" dirty="0" err="1"/>
              <a:t>Pr</a:t>
            </a:r>
            <a:r>
              <a:rPr lang="en-US" sz="1000" dirty="0"/>
              <a:t> = 0.561</a:t>
            </a:r>
          </a:p>
        </p:txBody>
      </p:sp>
    </p:spTree>
    <p:extLst>
      <p:ext uri="{BB962C8B-B14F-4D97-AF65-F5344CB8AC3E}">
        <p14:creationId xmlns:p14="http://schemas.microsoft.com/office/powerpoint/2010/main" val="4261070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television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   household has:</a:t>
            </a:r>
          </a:p>
          <a:p>
            <a:pPr algn="just"/>
            <a:r>
              <a:rPr lang="en-US" sz="1000" dirty="0"/>
              <a:t>   overweight/obesity |      television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1,177      </a:t>
            </a:r>
            <a:r>
              <a:rPr lang="en-US" sz="1000" dirty="0" smtClean="0"/>
              <a:t>28924 </a:t>
            </a:r>
            <a:r>
              <a:rPr lang="en-US" sz="1000" dirty="0"/>
              <a:t>|     </a:t>
            </a:r>
            <a:r>
              <a:rPr lang="en-US" sz="1000" dirty="0" smtClean="0"/>
              <a:t>30,038 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17         31 |        48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1,194      </a:t>
            </a:r>
            <a:r>
              <a:rPr lang="en-US" sz="1000" dirty="0" smtClean="0"/>
              <a:t>28955 </a:t>
            </a:r>
            <a:r>
              <a:rPr lang="en-US" sz="1000" dirty="0"/>
              <a:t>|     30,078</a:t>
            </a:r>
          </a:p>
          <a:p>
            <a:pPr algn="just"/>
            <a:r>
              <a:rPr lang="en-US" sz="1000" dirty="0" smtClean="0"/>
              <a:t> 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3.4861   </a:t>
            </a:r>
            <a:r>
              <a:rPr lang="en-US" sz="1000" dirty="0" err="1"/>
              <a:t>Pr</a:t>
            </a:r>
            <a:r>
              <a:rPr lang="en-US" sz="1000" dirty="0"/>
              <a:t> = 0.062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941352"/>
            <a:ext cx="402336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</a:t>
            </a:r>
            <a:r>
              <a:rPr lang="en-US" sz="1000" dirty="0" err="1"/>
              <a:t>sexhead</a:t>
            </a:r>
            <a:r>
              <a:rPr lang="en-US" sz="1000" dirty="0"/>
              <a:t>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sex of household head</a:t>
            </a:r>
          </a:p>
          <a:p>
            <a:pPr algn="just"/>
            <a:r>
              <a:rPr lang="en-US" sz="1000" dirty="0"/>
              <a:t>                proxy |      male     female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2,701        3030 </a:t>
            </a:r>
            <a:r>
              <a:rPr lang="en-US" sz="1000" dirty="0"/>
              <a:t>|     </a:t>
            </a:r>
            <a:r>
              <a:rPr lang="en-US" sz="1000" dirty="0" smtClean="0"/>
              <a:t>30,038 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39          9 |        48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2,7040        3039 </a:t>
            </a:r>
            <a:r>
              <a:rPr lang="en-US" sz="1000" dirty="0"/>
              <a:t>|     </a:t>
            </a:r>
            <a:r>
              <a:rPr lang="en-US" sz="1000" dirty="0" smtClean="0"/>
              <a:t>30,078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1.6701   </a:t>
            </a:r>
            <a:r>
              <a:rPr lang="en-US" sz="1000" dirty="0" err="1"/>
              <a:t>Pr</a:t>
            </a:r>
            <a:r>
              <a:rPr lang="en-US" sz="1000" dirty="0"/>
              <a:t> = 0.196</a:t>
            </a:r>
          </a:p>
        </p:txBody>
      </p:sp>
    </p:spTree>
    <p:extLst>
      <p:ext uri="{BB962C8B-B14F-4D97-AF65-F5344CB8AC3E}">
        <p14:creationId xmlns:p14="http://schemas.microsoft.com/office/powerpoint/2010/main" val="883440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internet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use of internet</a:t>
            </a:r>
          </a:p>
          <a:p>
            <a:pPr algn="just"/>
            <a:r>
              <a:rPr lang="en-US" sz="1000" dirty="0"/>
              <a:t>                proxy |     never  yes, last  yes, </a:t>
            </a:r>
            <a:r>
              <a:rPr lang="en-US" sz="1000" dirty="0" err="1"/>
              <a:t>befo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----------------------+---------------------------------+----------</a:t>
            </a:r>
          </a:p>
          <a:p>
            <a:pPr algn="just"/>
            <a:r>
              <a:rPr lang="en-US" sz="1000" dirty="0"/>
              <a:t>Normal/Low BMI-Z (≤2  |     </a:t>
            </a:r>
            <a:r>
              <a:rPr lang="en-US" sz="1000" dirty="0" smtClean="0"/>
              <a:t>1,6819        7668         </a:t>
            </a:r>
            <a:r>
              <a:rPr lang="en-US" sz="1000" dirty="0"/>
              <a:t>14 |     </a:t>
            </a:r>
            <a:r>
              <a:rPr lang="en-US" sz="1000" dirty="0" smtClean="0"/>
              <a:t>30,038 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23         25          0 |        48 </a:t>
            </a:r>
          </a:p>
          <a:p>
            <a:pPr algn="just"/>
            <a:r>
              <a:rPr lang="en-US" sz="1000" dirty="0"/>
              <a:t>----------------------+---------------------------------+----------</a:t>
            </a:r>
          </a:p>
          <a:p>
            <a:pPr algn="just"/>
            <a:r>
              <a:rPr lang="en-US" sz="1000" dirty="0"/>
              <a:t>                Total |     </a:t>
            </a:r>
            <a:r>
              <a:rPr lang="en-US" sz="1000" dirty="0" smtClean="0"/>
              <a:t>1,6842        7983         </a:t>
            </a:r>
            <a:r>
              <a:rPr lang="en-US" sz="1000" dirty="0"/>
              <a:t>14 |     30,078</a:t>
            </a:r>
          </a:p>
          <a:p>
            <a:pPr algn="just"/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chi2(2) =   8.8221   </a:t>
            </a:r>
            <a:r>
              <a:rPr lang="en-US" sz="1000" dirty="0" err="1"/>
              <a:t>Pr</a:t>
            </a:r>
            <a:r>
              <a:rPr lang="en-US" sz="1000" dirty="0"/>
              <a:t> = 0.012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8542" y="941352"/>
            <a:ext cx="476864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wealth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wealth index combined</a:t>
            </a:r>
          </a:p>
          <a:p>
            <a:pPr algn="just"/>
            <a:r>
              <a:rPr lang="en-US" sz="1000" dirty="0"/>
              <a:t>                proxy |   poorest     poorer     middle     richer    richest |     Total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  </a:t>
            </a:r>
            <a:r>
              <a:rPr lang="en-US" sz="1000" dirty="0" smtClean="0"/>
              <a:t>4671        6751        72476        4849        5919 </a:t>
            </a:r>
            <a:r>
              <a:rPr lang="en-US" sz="1000" dirty="0"/>
              <a:t>|     </a:t>
            </a:r>
            <a:r>
              <a:rPr lang="en-US" sz="1000" dirty="0" smtClean="0"/>
              <a:t>30,038 </a:t>
            </a:r>
            <a:endParaRPr lang="en-US" sz="1000" dirty="0"/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 8          7          8         12         13 |        48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               Total |       479        458        484        496        532 |     </a:t>
            </a:r>
            <a:r>
              <a:rPr lang="en-US" sz="1000" dirty="0" smtClean="0"/>
              <a:t>30,078 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chi2(4) =   2.0832   </a:t>
            </a:r>
            <a:r>
              <a:rPr lang="en-US" sz="1000" dirty="0" err="1"/>
              <a:t>Pr</a:t>
            </a:r>
            <a:r>
              <a:rPr lang="en-US" sz="1000" dirty="0"/>
              <a:t> = 0.720</a:t>
            </a:r>
          </a:p>
        </p:txBody>
      </p:sp>
    </p:spTree>
    <p:extLst>
      <p:ext uri="{BB962C8B-B14F-4D97-AF65-F5344CB8AC3E}">
        <p14:creationId xmlns:p14="http://schemas.microsoft.com/office/powerpoint/2010/main" val="594220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marital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current marital status</a:t>
            </a:r>
          </a:p>
          <a:p>
            <a:pPr algn="just"/>
            <a:r>
              <a:rPr lang="en-US" sz="1000" dirty="0"/>
              <a:t>                proxy |   married    widowed   divorced  no longer |     Total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Normal/Low BMI-Z (≤2  |     2,375          8          7         11 |     2,401 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48          0          0          0 |        48 </a:t>
            </a:r>
          </a:p>
          <a:p>
            <a:pPr algn="just"/>
            <a:r>
              <a:rPr lang="en-US" sz="1000" dirty="0"/>
              <a:t>----------------------+--------------------------------------------+----------</a:t>
            </a:r>
          </a:p>
          <a:p>
            <a:pPr algn="just"/>
            <a:r>
              <a:rPr lang="en-US" sz="1000" dirty="0"/>
              <a:t>                Total |     2,423          8          7         11 |     2,449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chi2(3) =   0.5254   </a:t>
            </a:r>
            <a:r>
              <a:rPr lang="en-US" sz="1000" dirty="0" err="1"/>
              <a:t>Pr</a:t>
            </a:r>
            <a:r>
              <a:rPr lang="en-US" sz="1000" dirty="0"/>
              <a:t> = 0.913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6129" y="941352"/>
            <a:ext cx="408038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employed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 respondent has a job,</a:t>
            </a:r>
          </a:p>
          <a:p>
            <a:pPr algn="just"/>
            <a:r>
              <a:rPr lang="en-US" sz="1000" dirty="0"/>
              <a:t>   overweight/obesity | but currently absent</a:t>
            </a:r>
          </a:p>
          <a:p>
            <a:pPr algn="just"/>
            <a:r>
              <a:rPr lang="en-US" sz="1000" dirty="0"/>
              <a:t>                proxy |        no        yes |     Total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Normal/Low BMI-Z (≤2  |     2,390         11 |     2,401 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48          0 |        48 </a:t>
            </a:r>
          </a:p>
          <a:p>
            <a:pPr algn="just"/>
            <a:r>
              <a:rPr lang="en-US" sz="1000" dirty="0"/>
              <a:t>----------------------+----------------------+----------</a:t>
            </a:r>
          </a:p>
          <a:p>
            <a:pPr algn="just"/>
            <a:r>
              <a:rPr lang="en-US" sz="1000" dirty="0"/>
              <a:t>                Total |     2,438         11 |     2,449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chi2(1) =   0.2209   </a:t>
            </a:r>
            <a:r>
              <a:rPr lang="en-US" sz="1000" dirty="0" err="1"/>
              <a:t>Pr</a:t>
            </a:r>
            <a:r>
              <a:rPr lang="en-US" sz="1000" dirty="0"/>
              <a:t> = 0.638</a:t>
            </a:r>
          </a:p>
        </p:txBody>
      </p:sp>
    </p:spTree>
    <p:extLst>
      <p:ext uri="{BB962C8B-B14F-4D97-AF65-F5344CB8AC3E}">
        <p14:creationId xmlns:p14="http://schemas.microsoft.com/office/powerpoint/2010/main" val="4196557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Chi-square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23654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Chi-square: </a:t>
            </a:r>
            <a:r>
              <a:rPr lang="en-US" sz="1000" dirty="0" err="1"/>
              <a:t>high_bmiz</a:t>
            </a:r>
            <a:r>
              <a:rPr lang="en-US" sz="1000" dirty="0"/>
              <a:t> x land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High BMI z-score (&gt;2 |</a:t>
            </a:r>
          </a:p>
          <a:p>
            <a:pPr algn="just"/>
            <a:r>
              <a:rPr lang="en-US" sz="1000" dirty="0"/>
              <a:t>                SD) — |</a:t>
            </a:r>
          </a:p>
          <a:p>
            <a:pPr algn="just"/>
            <a:r>
              <a:rPr lang="en-US" sz="1000" dirty="0"/>
              <a:t>   overweight/obesity |                    owns land alone or jointly</a:t>
            </a:r>
          </a:p>
          <a:p>
            <a:pPr algn="just"/>
            <a:r>
              <a:rPr lang="en-US" sz="1000" dirty="0"/>
              <a:t>                proxy | does not   alone </a:t>
            </a:r>
            <a:r>
              <a:rPr lang="en-US" sz="1000" dirty="0" err="1"/>
              <a:t>onl</a:t>
            </a:r>
            <a:r>
              <a:rPr lang="en-US" sz="1000" dirty="0"/>
              <a:t>  jointly w  jointly w  jointly w  both </a:t>
            </a:r>
            <a:r>
              <a:rPr lang="en-US" sz="1000" dirty="0" err="1"/>
              <a:t>alon</a:t>
            </a:r>
            <a:r>
              <a:rPr lang="en-US" sz="1000" dirty="0"/>
              <a:t> |     Total</a:t>
            </a:r>
          </a:p>
          <a:p>
            <a:pPr algn="just"/>
            <a:r>
              <a:rPr lang="en-US" sz="1000" dirty="0"/>
              <a:t>----------------------+------------------------------------------------------------------+----------</a:t>
            </a:r>
          </a:p>
          <a:p>
            <a:pPr algn="just"/>
            <a:r>
              <a:rPr lang="en-US" sz="1000" dirty="0"/>
              <a:t>Normal/Low BMI-Z (≤2  |     2,347         38          7          1          5          3 |     2,401 </a:t>
            </a:r>
          </a:p>
          <a:p>
            <a:pPr algn="just"/>
            <a:r>
              <a:rPr lang="en-US" sz="1000" dirty="0"/>
              <a:t>High BMI-Z (&gt;2 SD, </a:t>
            </a:r>
            <a:r>
              <a:rPr lang="en-US" sz="1000" dirty="0" err="1"/>
              <a:t>ov</a:t>
            </a:r>
            <a:r>
              <a:rPr lang="en-US" sz="1000" dirty="0"/>
              <a:t> |        47          0          0          0          0          1 |        48 </a:t>
            </a:r>
          </a:p>
          <a:p>
            <a:pPr algn="just"/>
            <a:r>
              <a:rPr lang="en-US" sz="1000" dirty="0"/>
              <a:t>----------------------+------------------------------------------------------------------+----------</a:t>
            </a:r>
          </a:p>
          <a:p>
            <a:pPr algn="just"/>
            <a:r>
              <a:rPr lang="en-US" sz="1000" dirty="0"/>
              <a:t>                Total |     2,394         38          7          1          5          4 |     2,449 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Pearson chi2(5) =  12.0699   </a:t>
            </a:r>
            <a:r>
              <a:rPr lang="en-US" sz="1000" dirty="0" err="1"/>
              <a:t>Pr</a:t>
            </a:r>
            <a:r>
              <a:rPr lang="en-US" sz="1000" dirty="0"/>
              <a:t> = 0.034</a:t>
            </a:r>
          </a:p>
        </p:txBody>
      </p:sp>
    </p:spTree>
    <p:extLst>
      <p:ext uri="{BB962C8B-B14F-4D97-AF65-F5344CB8AC3E}">
        <p14:creationId xmlns:p14="http://schemas.microsoft.com/office/powerpoint/2010/main" val="1122139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division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0.23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0.6337</a:t>
            </a:r>
          </a:p>
          <a:p>
            <a:pPr algn="just"/>
            <a:r>
              <a:rPr lang="en-US" sz="1000" dirty="0"/>
              <a:t>Log likelihood = -236.16017                             Pseudo R2     = 0.0005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 division |   .9704719   .0612505    -0.47   0.635     .8575513    1.098262</a:t>
            </a:r>
          </a:p>
          <a:p>
            <a:pPr algn="just"/>
            <a:r>
              <a:rPr lang="en-US" sz="1000" dirty="0"/>
              <a:t>       _cons |    .022649     .00671   -12.78   0.000     .0126728    .0404788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4045408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residence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0.35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0.5554</a:t>
            </a:r>
          </a:p>
          <a:p>
            <a:pPr algn="just"/>
            <a:r>
              <a:rPr lang="en-US" sz="1000" dirty="0"/>
              <a:t>Log likelihood = -236.0999                              Pseudo R2     = 0.0007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residence |   1.201288   .3775808     0.58   0.560     .6487884    2.224288</a:t>
            </a:r>
          </a:p>
          <a:p>
            <a:pPr algn="just"/>
            <a:r>
              <a:rPr lang="en-US" sz="1000" dirty="0"/>
              <a:t>       _cons |   .0147248   .0080964    -7.67   0.000     .0050121    .0432592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2249812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education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4.71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0.0300</a:t>
            </a:r>
          </a:p>
          <a:p>
            <a:pPr algn="just"/>
            <a:r>
              <a:rPr lang="en-US" sz="1000" dirty="0"/>
              <a:t>Log likelihood = -233.91799                             Pseudo R2     = 0.0100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education |   1.528503   .3067475     2.11   0.034     1.031437    2.265111</a:t>
            </a:r>
          </a:p>
          <a:p>
            <a:pPr algn="just"/>
            <a:r>
              <a:rPr lang="en-US" sz="1000" dirty="0"/>
              <a:t>       _cons |   .0086836    .003838   -10.74   0.000     .0036516    .0206498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2099358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electricity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0.28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0.5985</a:t>
            </a:r>
          </a:p>
          <a:p>
            <a:pPr algn="just"/>
            <a:r>
              <a:rPr lang="en-US" sz="1000" dirty="0"/>
              <a:t>Log likelihood = -236.1351                              Pseudo R2     = 0.0006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electricity |   .5545635   .5702566    -0.57   0.566      .073903    4.161407</a:t>
            </a:r>
          </a:p>
          <a:p>
            <a:pPr algn="just"/>
            <a:r>
              <a:rPr lang="en-US" sz="1000" dirty="0"/>
              <a:t>       _cons |   .0357149   .0363468    -3.27   0.001     .0048594    .2624887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436844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television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3.54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0.0598</a:t>
            </a:r>
          </a:p>
          <a:p>
            <a:pPr algn="just"/>
            <a:r>
              <a:rPr lang="en-US" sz="1000" dirty="0"/>
              <a:t>Log likelihood = -234.50182                             Pseudo R2     = 0.0075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television |   1.753508   .5340234     1.84   0.065     .9653343    3.185206</a:t>
            </a:r>
          </a:p>
          <a:p>
            <a:pPr algn="just"/>
            <a:r>
              <a:rPr lang="en-US" sz="1000" dirty="0"/>
              <a:t>       _cons |   .0144435   .0035283   -17.35   0.000     .0089483    .0233134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3122103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</a:t>
            </a:r>
            <a:r>
              <a:rPr lang="en-US" sz="1000" dirty="0" err="1"/>
              <a:t>sexhead</a:t>
            </a:r>
            <a:r>
              <a:rPr lang="en-US" sz="1000" dirty="0"/>
              <a:t>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1.49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0.2226</a:t>
            </a:r>
          </a:p>
          <a:p>
            <a:pPr algn="just"/>
            <a:r>
              <a:rPr lang="en-US" sz="1000" dirty="0"/>
              <a:t>Log likelihood = -235.53012                             Pseudo R2     = 0.0031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  </a:t>
            </a:r>
            <a:r>
              <a:rPr lang="en-US" sz="1000" dirty="0" err="1"/>
              <a:t>sexhead</a:t>
            </a:r>
            <a:r>
              <a:rPr lang="en-US" sz="1000" dirty="0"/>
              <a:t> |   1.616154   .6059207     1.28   0.200     .7750938    3.369854</a:t>
            </a:r>
          </a:p>
          <a:p>
            <a:pPr algn="just"/>
            <a:r>
              <a:rPr lang="en-US" sz="1000" dirty="0"/>
              <a:t>       _cons |   .0114857   .0053739    -9.55   0.000     .0045909    .0287354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27655012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internet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6.64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0.0100</a:t>
            </a:r>
          </a:p>
          <a:p>
            <a:pPr algn="just"/>
            <a:r>
              <a:rPr lang="en-US" sz="1000" dirty="0"/>
              <a:t>Log likelihood = -232.95395                             Pseudo R2     = 0.0141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 internet |   2.060862   .5657746     2.63   0.008     1.203278    3.529651</a:t>
            </a:r>
          </a:p>
          <a:p>
            <a:pPr algn="just"/>
            <a:r>
              <a:rPr lang="en-US" sz="1000" dirty="0"/>
              <a:t>       _cons |   .0147227   .0029953   -20.73   0.000     .0098813    .0219361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1948897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wealth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1.56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0.2120</a:t>
            </a:r>
          </a:p>
          <a:p>
            <a:pPr algn="just"/>
            <a:r>
              <a:rPr lang="en-US" sz="1000" dirty="0"/>
              <a:t>Log likelihood = -235.49496                             Pseudo R2     = 0.0033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   wealth |   1.137215   .1179976     1.24   0.215     .9279442    1.393681</a:t>
            </a:r>
          </a:p>
          <a:p>
            <a:pPr algn="just"/>
            <a:r>
              <a:rPr lang="en-US" sz="1000" dirty="0"/>
              <a:t>       _cons |   .0132757   .0049503   -11.59   0.000     .0063923    .0275713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969303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Bivariate logistic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768882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--- Bivariate logistic: </a:t>
            </a:r>
            <a:r>
              <a:rPr lang="en-US" sz="1000" dirty="0" err="1"/>
              <a:t>high_bmiz</a:t>
            </a:r>
            <a:r>
              <a:rPr lang="en-US" sz="1000" dirty="0"/>
              <a:t> ~ land ---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Logistic regression           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=  2,449</a:t>
            </a:r>
          </a:p>
          <a:p>
            <a:pPr algn="just"/>
            <a:r>
              <a:rPr lang="en-US" sz="1000" dirty="0"/>
              <a:t>                                                        LR chi2(1)    =   1.26</a:t>
            </a:r>
          </a:p>
          <a:p>
            <a:pPr algn="just"/>
            <a:r>
              <a:rPr lang="en-US" sz="1000" dirty="0"/>
              <a:t>                                                        </a:t>
            </a:r>
            <a:r>
              <a:rPr lang="en-US" sz="1000" dirty="0" err="1"/>
              <a:t>Prob</a:t>
            </a:r>
            <a:r>
              <a:rPr lang="en-US" sz="1000" dirty="0"/>
              <a:t> &gt; chi2   = 0.2609</a:t>
            </a:r>
          </a:p>
          <a:p>
            <a:pPr algn="just"/>
            <a:r>
              <a:rPr lang="en-US" sz="1000" dirty="0"/>
              <a:t>Log likelihood = -235.64167                             Pseudo R2     = 0.0027</a:t>
            </a:r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   </a:t>
            </a:r>
            <a:r>
              <a:rPr lang="en-US" sz="1000" dirty="0" err="1"/>
              <a:t>high_bmiz</a:t>
            </a:r>
            <a:r>
              <a:rPr lang="en-US" sz="1000" dirty="0"/>
              <a:t> | Odds ratio   Std. err.      z    P&gt;|z|     [95% conf. interval]</a:t>
            </a:r>
          </a:p>
          <a:p>
            <a:pPr algn="just"/>
            <a:r>
              <a:rPr lang="en-US" sz="1000" dirty="0"/>
              <a:t>-------------+----------------------------------------------------------------</a:t>
            </a:r>
          </a:p>
          <a:p>
            <a:pPr algn="just"/>
            <a:r>
              <a:rPr lang="en-US" sz="1000" dirty="0"/>
              <a:t>        land |   1.401242   .3522812     1.34   0.180     .8560826    2.293563</a:t>
            </a:r>
          </a:p>
          <a:p>
            <a:pPr algn="just"/>
            <a:r>
              <a:rPr lang="en-US" sz="1000" dirty="0"/>
              <a:t>       _cons |   .0195663   .0028949   -26.59   0.000      .014641    .0261486</a:t>
            </a:r>
          </a:p>
          <a:p>
            <a:pPr algn="just"/>
            <a:r>
              <a:rPr lang="en-US" sz="1000" dirty="0"/>
              <a:t>------------------------------------------------------------------------------</a:t>
            </a:r>
          </a:p>
          <a:p>
            <a:pPr algn="just"/>
            <a:r>
              <a:rPr lang="en-US" sz="1000" dirty="0"/>
              <a:t>Note: _cons estimates baseline odds.</a:t>
            </a:r>
          </a:p>
          <a:p>
            <a:pPr algn="just"/>
            <a:r>
              <a:rPr lang="en-US" sz="1000" dirty="0"/>
              <a:t>    N check PASS: 2449 == 2449</a:t>
            </a:r>
          </a:p>
        </p:txBody>
      </p:sp>
    </p:spTree>
    <p:extLst>
      <p:ext uri="{BB962C8B-B14F-4D97-AF65-F5344CB8AC3E}">
        <p14:creationId xmlns:p14="http://schemas.microsoft.com/office/powerpoint/2010/main" val="306139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Goodness-of-fit test after logistic model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570271" y="941353"/>
            <a:ext cx="3657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Goodness-of-fit test after logistic model</a:t>
            </a:r>
          </a:p>
          <a:p>
            <a:pPr algn="just"/>
            <a:r>
              <a:rPr lang="en-US" sz="1000" dirty="0"/>
              <a:t>Variable: </a:t>
            </a:r>
            <a:r>
              <a:rPr lang="en-US" sz="1000" dirty="0" err="1"/>
              <a:t>high_bmiz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Number of observations =  2,412</a:t>
            </a:r>
          </a:p>
          <a:p>
            <a:pPr algn="just"/>
            <a:r>
              <a:rPr lang="en-US" sz="1000" dirty="0"/>
              <a:t>Number of covariate patterns =    889</a:t>
            </a:r>
          </a:p>
          <a:p>
            <a:pPr algn="just"/>
            <a:r>
              <a:rPr lang="en-US" sz="1000" dirty="0"/>
              <a:t>           Pearson chi2(879) = 863.03</a:t>
            </a:r>
          </a:p>
          <a:p>
            <a:pPr algn="just"/>
            <a:r>
              <a:rPr lang="en-US" sz="1000" dirty="0"/>
              <a:t>                 </a:t>
            </a:r>
            <a:r>
              <a:rPr lang="en-US" sz="1000" dirty="0" err="1"/>
              <a:t>Prob</a:t>
            </a:r>
            <a:r>
              <a:rPr lang="en-US" sz="1000" dirty="0"/>
              <a:t> &gt; chi2 = 0.6433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981546"/>
            <a:ext cx="3657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Goodness-of-fit test after logistic model</a:t>
            </a:r>
          </a:p>
          <a:p>
            <a:pPr algn="just"/>
            <a:r>
              <a:rPr lang="en-US" sz="1000" dirty="0"/>
              <a:t>Variable: </a:t>
            </a:r>
            <a:r>
              <a:rPr lang="en-US" sz="1000" dirty="0" err="1"/>
              <a:t>high_bmiz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Number of observations =  2,412</a:t>
            </a:r>
          </a:p>
          <a:p>
            <a:pPr algn="just"/>
            <a:r>
              <a:rPr lang="en-US" sz="1000" dirty="0"/>
              <a:t>Number of covariate patterns =    889</a:t>
            </a:r>
          </a:p>
          <a:p>
            <a:pPr algn="just"/>
            <a:r>
              <a:rPr lang="en-US" sz="1000" dirty="0"/>
              <a:t>           Pearson chi2(879) = 863.03</a:t>
            </a:r>
          </a:p>
          <a:p>
            <a:pPr algn="just"/>
            <a:r>
              <a:rPr lang="en-US" sz="1000" dirty="0"/>
              <a:t>                 </a:t>
            </a:r>
            <a:r>
              <a:rPr lang="en-US" sz="1000" dirty="0" err="1"/>
              <a:t>Prob</a:t>
            </a:r>
            <a:r>
              <a:rPr lang="en-US" sz="1000" dirty="0"/>
              <a:t> &gt; chi2 = 0.6433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5352"/>
            <a:ext cx="3657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1000" dirty="0"/>
          </a:p>
          <a:p>
            <a:pPr algn="just"/>
            <a:r>
              <a:rPr lang="en-US" sz="1000" dirty="0"/>
              <a:t>Classified + if predicted </a:t>
            </a:r>
            <a:r>
              <a:rPr lang="en-US" sz="1000" dirty="0" err="1"/>
              <a:t>Pr</a:t>
            </a:r>
            <a:r>
              <a:rPr lang="en-US" sz="1000" dirty="0"/>
              <a:t>(D) &gt;= .5</a:t>
            </a:r>
          </a:p>
          <a:p>
            <a:pPr algn="just"/>
            <a:r>
              <a:rPr lang="en-US" sz="1000" dirty="0"/>
              <a:t>True D defined as </a:t>
            </a:r>
            <a:r>
              <a:rPr lang="en-US" sz="1000" dirty="0" err="1"/>
              <a:t>high_bmiz</a:t>
            </a:r>
            <a:r>
              <a:rPr lang="en-US" sz="1000" dirty="0"/>
              <a:t> != 0</a:t>
            </a:r>
          </a:p>
          <a:p>
            <a:pPr algn="just"/>
            <a:r>
              <a:rPr lang="en-US" sz="1000" dirty="0"/>
              <a:t>--------------------------------------------------</a:t>
            </a:r>
          </a:p>
          <a:p>
            <a:pPr algn="just"/>
            <a:r>
              <a:rPr lang="en-US" sz="1000" dirty="0"/>
              <a:t>Sensitivity                     </a:t>
            </a:r>
            <a:r>
              <a:rPr lang="en-US" sz="1000" dirty="0" err="1"/>
              <a:t>Pr</a:t>
            </a:r>
            <a:r>
              <a:rPr lang="en-US" sz="1000" dirty="0"/>
              <a:t>( +| D)    0.00%</a:t>
            </a:r>
          </a:p>
          <a:p>
            <a:pPr algn="just"/>
            <a:r>
              <a:rPr lang="en-US" sz="1000" dirty="0"/>
              <a:t>Specificity                     </a:t>
            </a:r>
            <a:r>
              <a:rPr lang="en-US" sz="1000" dirty="0" err="1"/>
              <a:t>Pr</a:t>
            </a:r>
            <a:r>
              <a:rPr lang="en-US" sz="1000" dirty="0"/>
              <a:t>( -|~D)  100.00%</a:t>
            </a:r>
          </a:p>
          <a:p>
            <a:pPr algn="just"/>
            <a:r>
              <a:rPr lang="en-US" sz="1000" dirty="0"/>
              <a:t>Positive predictive value       </a:t>
            </a:r>
            <a:r>
              <a:rPr lang="en-US" sz="1000" dirty="0" err="1"/>
              <a:t>Pr</a:t>
            </a:r>
            <a:r>
              <a:rPr lang="en-US" sz="1000" dirty="0"/>
              <a:t>( D| +)       .%</a:t>
            </a:r>
          </a:p>
          <a:p>
            <a:pPr algn="just"/>
            <a:r>
              <a:rPr lang="en-US" sz="1000" dirty="0"/>
              <a:t>Negative predictive value       </a:t>
            </a:r>
            <a:r>
              <a:rPr lang="en-US" sz="1000" dirty="0" err="1"/>
              <a:t>Pr</a:t>
            </a:r>
            <a:r>
              <a:rPr lang="en-US" sz="1000" dirty="0"/>
              <a:t>(~D| -)   98.01%</a:t>
            </a:r>
          </a:p>
          <a:p>
            <a:pPr algn="just"/>
            <a:r>
              <a:rPr lang="en-US" sz="1000" dirty="0"/>
              <a:t>--------------------------------------------------</a:t>
            </a:r>
          </a:p>
          <a:p>
            <a:pPr algn="just"/>
            <a:r>
              <a:rPr lang="en-US" sz="1000" dirty="0"/>
              <a:t>False + rate for true ~D        </a:t>
            </a:r>
            <a:r>
              <a:rPr lang="en-US" sz="1000" dirty="0" err="1"/>
              <a:t>Pr</a:t>
            </a:r>
            <a:r>
              <a:rPr lang="en-US" sz="1000" dirty="0"/>
              <a:t>( +|~D)    0.00%</a:t>
            </a:r>
          </a:p>
          <a:p>
            <a:pPr algn="just"/>
            <a:r>
              <a:rPr lang="en-US" sz="1000" dirty="0"/>
              <a:t>False - rate for true D         </a:t>
            </a:r>
            <a:r>
              <a:rPr lang="en-US" sz="1000" dirty="0" err="1"/>
              <a:t>Pr</a:t>
            </a:r>
            <a:r>
              <a:rPr lang="en-US" sz="1000" dirty="0"/>
              <a:t>( -| D)  100.00%</a:t>
            </a:r>
          </a:p>
          <a:p>
            <a:pPr algn="just"/>
            <a:r>
              <a:rPr lang="en-US" sz="1000" dirty="0"/>
              <a:t>False + rate for classified +   </a:t>
            </a:r>
            <a:r>
              <a:rPr lang="en-US" sz="1000" dirty="0" err="1"/>
              <a:t>Pr</a:t>
            </a:r>
            <a:r>
              <a:rPr lang="en-US" sz="1000" dirty="0"/>
              <a:t>(~D| +)       .%</a:t>
            </a:r>
          </a:p>
          <a:p>
            <a:pPr algn="just"/>
            <a:r>
              <a:rPr lang="en-US" sz="1000" dirty="0"/>
              <a:t>False - rate for classified -   </a:t>
            </a:r>
            <a:r>
              <a:rPr lang="en-US" sz="1000" dirty="0" err="1"/>
              <a:t>Pr</a:t>
            </a:r>
            <a:r>
              <a:rPr lang="en-US" sz="1000" dirty="0"/>
              <a:t>( D| -)    1.99%</a:t>
            </a:r>
          </a:p>
          <a:p>
            <a:pPr algn="just"/>
            <a:r>
              <a:rPr lang="en-US" sz="1000" dirty="0"/>
              <a:t>--------------------------------------------------</a:t>
            </a:r>
          </a:p>
          <a:p>
            <a:pPr algn="just"/>
            <a:r>
              <a:rPr lang="en-US" sz="1000" dirty="0"/>
              <a:t>Correctly classified                        98.01%</a:t>
            </a:r>
          </a:p>
          <a:p>
            <a:pPr algn="just"/>
            <a:r>
              <a:rPr lang="en-US" sz="1000" dirty="0"/>
              <a:t>--------------------------------------------------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0942" y="1007934"/>
            <a:ext cx="3657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00" dirty="0"/>
              <a:t>Logistic model for </a:t>
            </a:r>
            <a:r>
              <a:rPr lang="en-US" sz="1000" dirty="0" err="1"/>
              <a:t>high_bmiz</a:t>
            </a:r>
            <a:endParaRPr lang="en-US" sz="1000" dirty="0"/>
          </a:p>
          <a:p>
            <a:pPr algn="just"/>
            <a:endParaRPr lang="en-US" sz="1000" dirty="0"/>
          </a:p>
          <a:p>
            <a:pPr algn="just"/>
            <a:r>
              <a:rPr lang="en-US" sz="1000" dirty="0"/>
              <a:t>              -------- True --------</a:t>
            </a:r>
          </a:p>
          <a:p>
            <a:pPr algn="just"/>
            <a:r>
              <a:rPr lang="en-US" sz="1000" dirty="0"/>
              <a:t>Classified |         D            ~D  |      Total</a:t>
            </a:r>
          </a:p>
          <a:p>
            <a:pPr algn="just"/>
            <a:r>
              <a:rPr lang="en-US" sz="1000" dirty="0"/>
              <a:t>-----------+--------------------------+-----------</a:t>
            </a:r>
          </a:p>
          <a:p>
            <a:pPr algn="just"/>
            <a:r>
              <a:rPr lang="en-US" sz="1000" dirty="0"/>
              <a:t>     +     |         0             0  |          0</a:t>
            </a:r>
          </a:p>
          <a:p>
            <a:pPr algn="just"/>
            <a:r>
              <a:rPr lang="en-US" sz="1000" dirty="0"/>
              <a:t>     -     |        48          2364  |       2412</a:t>
            </a:r>
          </a:p>
          <a:p>
            <a:pPr algn="just"/>
            <a:r>
              <a:rPr lang="en-US" sz="1000" dirty="0"/>
              <a:t>-----------+--------------------------+-----------</a:t>
            </a:r>
          </a:p>
          <a:p>
            <a:pPr algn="just"/>
            <a:r>
              <a:rPr lang="en-US" sz="1000" dirty="0"/>
              <a:t>   Total   |        48          2364  |       2412</a:t>
            </a:r>
          </a:p>
        </p:txBody>
      </p:sp>
    </p:spTree>
    <p:extLst>
      <p:ext uri="{BB962C8B-B14F-4D97-AF65-F5344CB8AC3E}">
        <p14:creationId xmlns:p14="http://schemas.microsoft.com/office/powerpoint/2010/main" val="2831654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Mean </a:t>
            </a:r>
            <a:r>
              <a:rPr lang="en-US" sz="2400" b="1" dirty="0" smtClean="0"/>
              <a:t>estimation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830826" y="1602369"/>
            <a:ext cx="648437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 BMI category |                                        division</a:t>
            </a:r>
          </a:p>
          <a:p>
            <a:r>
              <a:rPr lang="en-US" sz="1000" dirty="0"/>
              <a:t>   (WHO z-score) |  </a:t>
            </a:r>
            <a:r>
              <a:rPr lang="en-US" sz="1000" dirty="0" err="1"/>
              <a:t>barishal</a:t>
            </a:r>
            <a:r>
              <a:rPr lang="en-US" sz="1000" dirty="0"/>
              <a:t>  </a:t>
            </a:r>
            <a:r>
              <a:rPr lang="en-US" sz="1000" dirty="0" err="1"/>
              <a:t>chattogra</a:t>
            </a:r>
            <a:r>
              <a:rPr lang="en-US" sz="1000" dirty="0"/>
              <a:t>      </a:t>
            </a:r>
            <a:r>
              <a:rPr lang="en-US" sz="1000" dirty="0" err="1"/>
              <a:t>dhaka</a:t>
            </a:r>
            <a:r>
              <a:rPr lang="en-US" sz="1000" dirty="0"/>
              <a:t>     </a:t>
            </a:r>
            <a:r>
              <a:rPr lang="en-US" sz="1000" dirty="0" err="1"/>
              <a:t>khulna</a:t>
            </a:r>
            <a:r>
              <a:rPr lang="en-US" sz="1000" dirty="0"/>
              <a:t>  </a:t>
            </a:r>
            <a:r>
              <a:rPr lang="en-US" sz="1000" dirty="0" err="1"/>
              <a:t>mymensing</a:t>
            </a:r>
            <a:r>
              <a:rPr lang="en-US" sz="1000" dirty="0"/>
              <a:t>   </a:t>
            </a:r>
            <a:r>
              <a:rPr lang="en-US" sz="1000" dirty="0" err="1"/>
              <a:t>rajshahi</a:t>
            </a:r>
            <a:r>
              <a:rPr lang="en-US" sz="1000" dirty="0"/>
              <a:t>    </a:t>
            </a:r>
            <a:r>
              <a:rPr lang="en-US" sz="1000" dirty="0" err="1"/>
              <a:t>rangpur</a:t>
            </a:r>
            <a:r>
              <a:rPr lang="en-US" sz="1000" dirty="0"/>
              <a:t>     </a:t>
            </a:r>
            <a:r>
              <a:rPr lang="en-US" sz="1000" dirty="0" err="1"/>
              <a:t>sylhet</a:t>
            </a:r>
            <a:r>
              <a:rPr lang="en-US" sz="1000" dirty="0"/>
              <a:t> |     Total</a:t>
            </a:r>
          </a:p>
          <a:p>
            <a:r>
              <a:rPr lang="en-US" sz="1000" dirty="0"/>
              <a:t>-----------------+----------------------------------------------------------------------------------------+----------</a:t>
            </a:r>
          </a:p>
          <a:p>
            <a:r>
              <a:rPr lang="en-US" sz="1000" dirty="0"/>
              <a:t>     Underweight |        29         52         26         23         34         23         29         27 |       243 </a:t>
            </a:r>
          </a:p>
          <a:p>
            <a:r>
              <a:rPr lang="en-US" sz="1000" dirty="0"/>
              <a:t>          Normal |       261        400        329        221        255        182        217        293 |     2,158 </a:t>
            </a:r>
          </a:p>
          <a:p>
            <a:r>
              <a:rPr lang="en-US" sz="1000" dirty="0"/>
              <a:t>Overweight/Obese |         8          8          7          3          6          6          7          3 |        48 </a:t>
            </a:r>
          </a:p>
          <a:p>
            <a:r>
              <a:rPr lang="en-US" sz="1000" dirty="0"/>
              <a:t>-----------------+----------------------------------------------------------------------------------------+----------</a:t>
            </a:r>
          </a:p>
          <a:p>
            <a:r>
              <a:rPr lang="en-US" sz="1000" dirty="0"/>
              <a:t>           Total |       298        460        362        247        295        211        253        323 |     2,449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48629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Mean </a:t>
            </a:r>
            <a:r>
              <a:rPr lang="en-US" sz="2400" b="1" dirty="0" smtClean="0"/>
              <a:t>estimation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Number of </a:t>
            </a:r>
            <a:r>
              <a:rPr lang="en-US" sz="1000" dirty="0" err="1"/>
              <a:t>obs</a:t>
            </a:r>
            <a:r>
              <a:rPr lang="en-US" sz="1000" dirty="0"/>
              <a:t>   =      4,644</a:t>
            </a:r>
          </a:p>
          <a:p>
            <a:r>
              <a:rPr lang="en-US" sz="1000" dirty="0"/>
              <a:t>Number of PSUs   = 1,129          Population size = 4,690.2951</a:t>
            </a:r>
          </a:p>
          <a:p>
            <a:r>
              <a:rPr lang="en-US" sz="1000" dirty="0"/>
              <a:t>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1,121</a:t>
            </a:r>
          </a:p>
          <a:p>
            <a:endParaRPr lang="en-US" sz="1000" dirty="0"/>
          </a:p>
          <a:p>
            <a:r>
              <a:rPr lang="en-US" sz="1000" dirty="0"/>
              <a:t>--------------------------------------------------------------</a:t>
            </a:r>
          </a:p>
          <a:p>
            <a:r>
              <a:rPr lang="en-US" sz="1000" dirty="0"/>
              <a:t>             |             Linearized</a:t>
            </a:r>
          </a:p>
          <a:p>
            <a:r>
              <a:rPr lang="en-US" sz="1000" dirty="0"/>
              <a:t>             |       Mean   std. err.     [95% conf. interval]</a:t>
            </a:r>
          </a:p>
          <a:p>
            <a:r>
              <a:rPr lang="en-US" sz="1000" dirty="0"/>
              <a:t>-------------+------------------------------------------------</a:t>
            </a:r>
          </a:p>
          <a:p>
            <a:r>
              <a:rPr lang="en-US" sz="1000" dirty="0"/>
              <a:t>       m13_1 |    4.41517   .0471925      4.322575    4.507766</a:t>
            </a:r>
          </a:p>
          <a:p>
            <a:r>
              <a:rPr lang="en-US" sz="1000" dirty="0"/>
              <a:t>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028937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Number of </a:t>
            </a:r>
            <a:r>
              <a:rPr lang="en-US" sz="1000" dirty="0" err="1"/>
              <a:t>obs</a:t>
            </a:r>
            <a:r>
              <a:rPr lang="en-US" sz="1000" dirty="0"/>
              <a:t>   =      3,675</a:t>
            </a:r>
          </a:p>
          <a:p>
            <a:r>
              <a:rPr lang="en-US" sz="1000" dirty="0"/>
              <a:t>Number of PSUs   = 1,048          Population size = 3,689.4225</a:t>
            </a:r>
          </a:p>
          <a:p>
            <a:r>
              <a:rPr lang="en-US" sz="1000" dirty="0"/>
              <a:t>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1,040</a:t>
            </a:r>
          </a:p>
          <a:p>
            <a:endParaRPr lang="en-US" sz="1000" dirty="0"/>
          </a:p>
          <a:p>
            <a:r>
              <a:rPr lang="en-US" sz="1000" dirty="0"/>
              <a:t>--------------------------------------------------------------</a:t>
            </a:r>
          </a:p>
          <a:p>
            <a:r>
              <a:rPr lang="en-US" sz="1000" dirty="0"/>
              <a:t>             |             Linearized</a:t>
            </a:r>
          </a:p>
          <a:p>
            <a:r>
              <a:rPr lang="en-US" sz="1000" dirty="0"/>
              <a:t>             |       Mean   std. err.     [95% conf. interval]</a:t>
            </a:r>
          </a:p>
          <a:p>
            <a:r>
              <a:rPr lang="en-US" sz="1000" dirty="0"/>
              <a:t>-------------+------------------------------------------------</a:t>
            </a:r>
          </a:p>
          <a:p>
            <a:r>
              <a:rPr lang="en-US" sz="1000" dirty="0"/>
              <a:t>      hw73_1 |  -39.49095   8.245574     -55.67081    -23.3111</a:t>
            </a:r>
          </a:p>
          <a:p>
            <a:r>
              <a:rPr lang="en-US" sz="1000" dirty="0"/>
              <a:t>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6299517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Use of   </a:t>
            </a:r>
            <a:r>
              <a:rPr lang="en-US" sz="2400" b="1" dirty="0" smtClean="0"/>
              <a:t>internet</a:t>
            </a:r>
            <a:endParaRPr lang="en-US" sz="2200" b="1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40369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2286000" y="1464717"/>
            <a:ext cx="4572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000" dirty="0"/>
          </a:p>
          <a:p>
            <a:r>
              <a:rPr lang="en-US" sz="1000" dirty="0"/>
              <a:t>Number of strata =     8                          Number of </a:t>
            </a:r>
            <a:r>
              <a:rPr lang="en-US" sz="1000" dirty="0" err="1"/>
              <a:t>obs</a:t>
            </a:r>
            <a:r>
              <a:rPr lang="en-US" sz="1000" dirty="0"/>
              <a:t>   =     19,987</a:t>
            </a:r>
          </a:p>
          <a:p>
            <a:r>
              <a:rPr lang="en-US" sz="1000" dirty="0"/>
              <a:t>Number of PSUs   = 1,324                          Population size = 20,028.606</a:t>
            </a:r>
          </a:p>
          <a:p>
            <a:r>
              <a:rPr lang="en-US" sz="1000" dirty="0"/>
              <a:t>                                                  Design </a:t>
            </a:r>
            <a:r>
              <a:rPr lang="en-US" sz="1000" dirty="0" err="1"/>
              <a:t>df</a:t>
            </a:r>
            <a:r>
              <a:rPr lang="en-US" sz="1000" dirty="0"/>
              <a:t>       =      1,316</a:t>
            </a:r>
          </a:p>
          <a:p>
            <a:endParaRPr lang="en-US" sz="1000" dirty="0"/>
          </a:p>
          <a:p>
            <a:r>
              <a:rPr lang="en-US" sz="1000" dirty="0"/>
              <a:t>----------------------</a:t>
            </a:r>
          </a:p>
          <a:p>
            <a:r>
              <a:rPr lang="en-US" sz="1000" dirty="0"/>
              <a:t>Use of    |</a:t>
            </a:r>
          </a:p>
          <a:p>
            <a:r>
              <a:rPr lang="en-US" sz="1000" dirty="0"/>
              <a:t>internet  | proportion</a:t>
            </a:r>
          </a:p>
          <a:p>
            <a:r>
              <a:rPr lang="en-US" sz="1000" dirty="0"/>
              <a:t>----------+-----------</a:t>
            </a:r>
          </a:p>
          <a:p>
            <a:r>
              <a:rPr lang="en-US" sz="1000" dirty="0"/>
              <a:t>    Never |       .699</a:t>
            </a:r>
          </a:p>
          <a:p>
            <a:r>
              <a:rPr lang="en-US" sz="1000" dirty="0"/>
              <a:t> Almost e |      .2944</a:t>
            </a:r>
          </a:p>
          <a:p>
            <a:r>
              <a:rPr lang="en-US" sz="1000" dirty="0"/>
              <a:t> At least |      .0066</a:t>
            </a:r>
          </a:p>
          <a:p>
            <a:r>
              <a:rPr lang="en-US" sz="1000" dirty="0"/>
              <a:t>          | </a:t>
            </a:r>
          </a:p>
          <a:p>
            <a:r>
              <a:rPr lang="en-US" sz="1000" dirty="0"/>
              <a:t>    Total |          1</a:t>
            </a:r>
          </a:p>
          <a:p>
            <a:r>
              <a:rPr lang="en-US" sz="1000" dirty="0"/>
              <a:t>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856943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21 variables across household, socioeconomic, and health domains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19202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variables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2984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/>
              <a:t> 30,078 </a:t>
            </a:r>
          </a:p>
        </p:txBody>
      </p:sp>
      <p:sp>
        <p:nvSpPr>
          <p:cNvPr id="10" name="Text 8"/>
          <p:cNvSpPr/>
          <p:nvPr/>
        </p:nvSpPr>
        <p:spPr>
          <a:xfrm>
            <a:off x="2606040" y="1792224"/>
            <a:ext cx="19202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Sample size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984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4A261"/>
                </a:solidFill>
              </a:rPr>
              <a:t>2022-2024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792224"/>
            <a:ext cx="19202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Survey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18872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29844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6F51"/>
                </a:solidFill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792224"/>
            <a:ext cx="19202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Divisions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51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Household characteristics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5511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v002, v119, v121, v151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2551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4 variables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8EE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53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Socioeconomic &amp; wealth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v025, v106, v190, awfactw, v745b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953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5 variables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1927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Women's health &amp; nutrition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355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v176, v456, hw73_1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3355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3 variables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21608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8EE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581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Reproductive &amp; maternal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758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b0_01, b15_01, m13_1, pidxb_20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3758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4 variables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23944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Demographics &amp; access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v024, v171a, v501, v714a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160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4 variables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E8EEF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562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Survey weight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0" y="4562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v005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5628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1 variable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046720" cy="2468880"/>
          </a:xfrm>
          <a:prstGeom prst="roundRect">
            <a:avLst>
              <a:gd name="adj" fmla="val 5556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Household Characteristics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Residence type · Electricity · Television · Sex of household head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Household 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v025 · v119 · v121 · v151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19" y="1303723"/>
            <a:ext cx="5030005" cy="3656930"/>
          </a:xfrm>
          <a:prstGeom prst="rect">
            <a:avLst/>
          </a:prstGeom>
        </p:spPr>
      </p:pic>
      <p:sp>
        <p:nvSpPr>
          <p:cNvPr id="15" name="Shape 5"/>
          <p:cNvSpPr/>
          <p:nvPr/>
        </p:nvSpPr>
        <p:spPr>
          <a:xfrm>
            <a:off x="5742038" y="1180033"/>
            <a:ext cx="3015463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Box 15"/>
          <p:cNvSpPr txBox="1"/>
          <p:nvPr/>
        </p:nvSpPr>
        <p:spPr>
          <a:xfrm>
            <a:off x="5742038" y="2468059"/>
            <a:ext cx="3015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  place </a:t>
            </a:r>
            <a:r>
              <a:rPr lang="en-US" sz="1000" dirty="0"/>
              <a:t>of </a:t>
            </a:r>
            <a:r>
              <a:rPr lang="en-US" sz="1000" dirty="0" smtClean="0"/>
              <a:t>  |</a:t>
            </a:r>
            <a:endParaRPr lang="en-US" sz="1000" dirty="0"/>
          </a:p>
          <a:p>
            <a:r>
              <a:rPr lang="en-US" sz="1000" dirty="0"/>
              <a:t>  residence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Urban |     10,571       35.15       35.15</a:t>
            </a:r>
          </a:p>
          <a:p>
            <a:r>
              <a:rPr lang="en-US" sz="1000" dirty="0"/>
              <a:t>      Rural |     19,507       64.85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30,078      100.00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Household 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v025 · v119 · v121 · v151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185736"/>
            <a:ext cx="5030005" cy="365693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1297858"/>
            <a:ext cx="2984090" cy="32938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 </a:t>
            </a:r>
            <a:r>
              <a:rPr lang="en-US" sz="1000" dirty="0"/>
              <a:t>Sex of </a:t>
            </a:r>
            <a:r>
              <a:rPr lang="en-US" sz="1000" dirty="0" smtClean="0"/>
              <a:t>household </a:t>
            </a:r>
            <a:r>
              <a:rPr lang="en-US" sz="1000" dirty="0"/>
              <a:t>|</a:t>
            </a:r>
          </a:p>
          <a:p>
            <a:pPr algn="ctr"/>
            <a:r>
              <a:rPr lang="en-US" sz="1000" dirty="0"/>
              <a:t>       head |      Freq.     Percent        Cum.</a:t>
            </a:r>
          </a:p>
          <a:p>
            <a:pPr algn="ctr"/>
            <a:r>
              <a:rPr lang="en-US" sz="1000" dirty="0"/>
              <a:t>------------+-----------------------------------</a:t>
            </a:r>
          </a:p>
          <a:p>
            <a:pPr algn="ctr"/>
            <a:r>
              <a:rPr lang="en-US" sz="1000" dirty="0"/>
              <a:t>       Male |     25,813       85.82       85.82</a:t>
            </a:r>
          </a:p>
          <a:p>
            <a:pPr algn="ctr"/>
            <a:r>
              <a:rPr lang="en-US" sz="1000" dirty="0"/>
              <a:t>     Female |      4,265       14.18      100.00</a:t>
            </a:r>
          </a:p>
          <a:p>
            <a:pPr algn="ctr"/>
            <a:r>
              <a:rPr lang="en-US" sz="1000" dirty="0"/>
              <a:t>------------+-----------------------------------</a:t>
            </a:r>
          </a:p>
          <a:p>
            <a:pPr algn="ctr"/>
            <a:r>
              <a:rPr lang="en-US" sz="1000" dirty="0"/>
              <a:t>      Total |     30,078      100.00</a:t>
            </a:r>
          </a:p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03574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Household 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v025 · v119 · v121 · v151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pSp>
        <p:nvGrpSpPr>
          <p:cNvPr id="15" name="Group 4"/>
          <p:cNvGrpSpPr>
            <a:grpSpLocks noChangeAspect="1"/>
          </p:cNvGrpSpPr>
          <p:nvPr/>
        </p:nvGrpSpPr>
        <p:grpSpPr bwMode="auto">
          <a:xfrm>
            <a:off x="457200" y="1271587"/>
            <a:ext cx="5032375" cy="3657600"/>
            <a:chOff x="1234" y="852"/>
            <a:chExt cx="3170" cy="2304"/>
          </a:xfrm>
        </p:grpSpPr>
        <p:sp>
          <p:nvSpPr>
            <p:cNvPr id="1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34" y="852"/>
              <a:ext cx="3168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1234" y="852"/>
              <a:ext cx="3170" cy="230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1234" y="852"/>
              <a:ext cx="3170" cy="23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1237" y="855"/>
              <a:ext cx="3164" cy="2296"/>
            </a:xfrm>
            <a:prstGeom prst="rect">
              <a:avLst/>
            </a:pr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550" y="1075"/>
              <a:ext cx="2771" cy="1868"/>
            </a:xfrm>
            <a:prstGeom prst="rect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1547" y="2945"/>
              <a:ext cx="2776" cy="0"/>
            </a:xfrm>
            <a:prstGeom prst="line">
              <a:avLst/>
            </a:prstGeom>
            <a:noFill/>
            <a:ln w="11113" cap="flat">
              <a:solidFill>
                <a:srgbClr val="E0E0E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1547" y="2348"/>
              <a:ext cx="2776" cy="0"/>
            </a:xfrm>
            <a:prstGeom prst="line">
              <a:avLst/>
            </a:prstGeom>
            <a:noFill/>
            <a:ln w="11113" cap="flat">
              <a:solidFill>
                <a:srgbClr val="E0E0E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1547" y="1750"/>
              <a:ext cx="2776" cy="0"/>
            </a:xfrm>
            <a:prstGeom prst="line">
              <a:avLst/>
            </a:prstGeom>
            <a:noFill/>
            <a:ln w="11113" cap="flat">
              <a:solidFill>
                <a:srgbClr val="E0E0E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1547" y="1153"/>
              <a:ext cx="2776" cy="0"/>
            </a:xfrm>
            <a:prstGeom prst="line">
              <a:avLst/>
            </a:prstGeom>
            <a:noFill/>
            <a:ln w="11113" cap="flat">
              <a:solidFill>
                <a:srgbClr val="E0E0E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1738" y="2921"/>
              <a:ext cx="552" cy="24"/>
            </a:xfrm>
            <a:prstGeom prst="rect">
              <a:avLst/>
            </a:pr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1741" y="2923"/>
              <a:ext cx="547" cy="20"/>
            </a:xfrm>
            <a:prstGeom prst="rect">
              <a:avLst/>
            </a:prstGeom>
            <a:noFill/>
            <a:ln w="7938" cap="flat">
              <a:solidFill>
                <a:srgbClr val="FF7F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15"/>
            <p:cNvSpPr>
              <a:spLocks noChangeArrowheads="1"/>
            </p:cNvSpPr>
            <p:nvPr/>
          </p:nvSpPr>
          <p:spPr bwMode="auto">
            <a:xfrm>
              <a:off x="2659" y="1300"/>
              <a:ext cx="552" cy="1645"/>
            </a:xfrm>
            <a:prstGeom prst="rect">
              <a:avLst/>
            </a:pr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16"/>
            <p:cNvSpPr>
              <a:spLocks noChangeArrowheads="1"/>
            </p:cNvSpPr>
            <p:nvPr/>
          </p:nvSpPr>
          <p:spPr bwMode="auto">
            <a:xfrm>
              <a:off x="2662" y="1302"/>
              <a:ext cx="547" cy="1641"/>
            </a:xfrm>
            <a:prstGeom prst="rect">
              <a:avLst/>
            </a:prstGeom>
            <a:noFill/>
            <a:ln w="7938" cap="flat">
              <a:solidFill>
                <a:srgbClr val="FF7F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3581" y="2818"/>
              <a:ext cx="551" cy="127"/>
            </a:xfrm>
            <a:prstGeom prst="rect">
              <a:avLst/>
            </a:prstGeom>
            <a:solidFill>
              <a:srgbClr val="FF7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18"/>
            <p:cNvSpPr>
              <a:spLocks noChangeArrowheads="1"/>
            </p:cNvSpPr>
            <p:nvPr/>
          </p:nvSpPr>
          <p:spPr bwMode="auto">
            <a:xfrm>
              <a:off x="3583" y="2820"/>
              <a:ext cx="547" cy="123"/>
            </a:xfrm>
            <a:prstGeom prst="rect">
              <a:avLst/>
            </a:prstGeom>
            <a:noFill/>
            <a:ln w="7938" cap="flat">
              <a:solidFill>
                <a:srgbClr val="FF7F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V="1">
              <a:off x="1547" y="1072"/>
              <a:ext cx="0" cy="1873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H="1">
              <a:off x="1515" y="2945"/>
              <a:ext cx="32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 rot="16200000">
              <a:off x="1421" y="2874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Line 22"/>
            <p:cNvSpPr>
              <a:spLocks noChangeShapeType="1"/>
            </p:cNvSpPr>
            <p:nvPr/>
          </p:nvSpPr>
          <p:spPr bwMode="auto">
            <a:xfrm flipH="1">
              <a:off x="1515" y="2348"/>
              <a:ext cx="32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3"/>
            <p:cNvSpPr>
              <a:spLocks noChangeArrowheads="1"/>
            </p:cNvSpPr>
            <p:nvPr/>
          </p:nvSpPr>
          <p:spPr bwMode="auto">
            <a:xfrm rot="16200000">
              <a:off x="1421" y="2376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24"/>
            <p:cNvSpPr>
              <a:spLocks noChangeArrowheads="1"/>
            </p:cNvSpPr>
            <p:nvPr/>
          </p:nvSpPr>
          <p:spPr bwMode="auto">
            <a:xfrm rot="16200000">
              <a:off x="1421" y="2332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25"/>
            <p:cNvSpPr>
              <a:spLocks noChangeArrowheads="1"/>
            </p:cNvSpPr>
            <p:nvPr/>
          </p:nvSpPr>
          <p:spPr bwMode="auto">
            <a:xfrm rot="16200000">
              <a:off x="1432" y="2299"/>
              <a:ext cx="5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,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6"/>
            <p:cNvSpPr>
              <a:spLocks noChangeArrowheads="1"/>
            </p:cNvSpPr>
            <p:nvPr/>
          </p:nvSpPr>
          <p:spPr bwMode="auto">
            <a:xfrm rot="16200000">
              <a:off x="1421" y="2266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7"/>
            <p:cNvSpPr>
              <a:spLocks noChangeArrowheads="1"/>
            </p:cNvSpPr>
            <p:nvPr/>
          </p:nvSpPr>
          <p:spPr bwMode="auto">
            <a:xfrm rot="16200000">
              <a:off x="1421" y="2221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8"/>
            <p:cNvSpPr>
              <a:spLocks noChangeArrowheads="1"/>
            </p:cNvSpPr>
            <p:nvPr/>
          </p:nvSpPr>
          <p:spPr bwMode="auto">
            <a:xfrm rot="16200000">
              <a:off x="1421" y="2177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Line 29"/>
            <p:cNvSpPr>
              <a:spLocks noChangeShapeType="1"/>
            </p:cNvSpPr>
            <p:nvPr/>
          </p:nvSpPr>
          <p:spPr bwMode="auto">
            <a:xfrm flipH="1">
              <a:off x="1515" y="1750"/>
              <a:ext cx="32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30"/>
            <p:cNvSpPr>
              <a:spLocks noChangeArrowheads="1"/>
            </p:cNvSpPr>
            <p:nvPr/>
          </p:nvSpPr>
          <p:spPr bwMode="auto">
            <a:xfrm rot="16200000">
              <a:off x="1421" y="1779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1"/>
            <p:cNvSpPr>
              <a:spLocks noChangeArrowheads="1"/>
            </p:cNvSpPr>
            <p:nvPr/>
          </p:nvSpPr>
          <p:spPr bwMode="auto">
            <a:xfrm rot="16200000">
              <a:off x="1421" y="1734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2"/>
            <p:cNvSpPr>
              <a:spLocks noChangeArrowheads="1"/>
            </p:cNvSpPr>
            <p:nvPr/>
          </p:nvSpPr>
          <p:spPr bwMode="auto">
            <a:xfrm rot="16200000">
              <a:off x="1432" y="1701"/>
              <a:ext cx="5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,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3"/>
            <p:cNvSpPr>
              <a:spLocks noChangeArrowheads="1"/>
            </p:cNvSpPr>
            <p:nvPr/>
          </p:nvSpPr>
          <p:spPr bwMode="auto">
            <a:xfrm rot="16200000">
              <a:off x="1421" y="1668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4"/>
            <p:cNvSpPr>
              <a:spLocks noChangeArrowheads="1"/>
            </p:cNvSpPr>
            <p:nvPr/>
          </p:nvSpPr>
          <p:spPr bwMode="auto">
            <a:xfrm rot="16200000">
              <a:off x="1421" y="1624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35"/>
            <p:cNvSpPr>
              <a:spLocks noChangeArrowheads="1"/>
            </p:cNvSpPr>
            <p:nvPr/>
          </p:nvSpPr>
          <p:spPr bwMode="auto">
            <a:xfrm rot="16200000">
              <a:off x="1421" y="1580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36"/>
            <p:cNvSpPr>
              <a:spLocks noChangeShapeType="1"/>
            </p:cNvSpPr>
            <p:nvPr/>
          </p:nvSpPr>
          <p:spPr bwMode="auto">
            <a:xfrm flipH="1">
              <a:off x="1515" y="1153"/>
              <a:ext cx="32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37"/>
            <p:cNvSpPr>
              <a:spLocks noChangeArrowheads="1"/>
            </p:cNvSpPr>
            <p:nvPr/>
          </p:nvSpPr>
          <p:spPr bwMode="auto">
            <a:xfrm rot="16200000">
              <a:off x="1421" y="1181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38"/>
            <p:cNvSpPr>
              <a:spLocks noChangeArrowheads="1"/>
            </p:cNvSpPr>
            <p:nvPr/>
          </p:nvSpPr>
          <p:spPr bwMode="auto">
            <a:xfrm rot="16200000">
              <a:off x="1421" y="1137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39"/>
            <p:cNvSpPr>
              <a:spLocks noChangeArrowheads="1"/>
            </p:cNvSpPr>
            <p:nvPr/>
          </p:nvSpPr>
          <p:spPr bwMode="auto">
            <a:xfrm rot="16200000">
              <a:off x="1432" y="1104"/>
              <a:ext cx="5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,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0"/>
            <p:cNvSpPr>
              <a:spLocks noChangeArrowheads="1"/>
            </p:cNvSpPr>
            <p:nvPr/>
          </p:nvSpPr>
          <p:spPr bwMode="auto">
            <a:xfrm rot="16200000">
              <a:off x="1421" y="1071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 rot="16200000">
              <a:off x="1421" y="1027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42"/>
            <p:cNvSpPr>
              <a:spLocks noChangeArrowheads="1"/>
            </p:cNvSpPr>
            <p:nvPr/>
          </p:nvSpPr>
          <p:spPr bwMode="auto">
            <a:xfrm rot="16200000">
              <a:off x="1421" y="982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43"/>
            <p:cNvSpPr>
              <a:spLocks noChangeArrowheads="1"/>
            </p:cNvSpPr>
            <p:nvPr/>
          </p:nvSpPr>
          <p:spPr bwMode="auto">
            <a:xfrm rot="16200000">
              <a:off x="1330" y="2101"/>
              <a:ext cx="8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44"/>
            <p:cNvSpPr>
              <a:spLocks noChangeArrowheads="1"/>
            </p:cNvSpPr>
            <p:nvPr/>
          </p:nvSpPr>
          <p:spPr bwMode="auto">
            <a:xfrm rot="16200000">
              <a:off x="1342" y="2065"/>
              <a:ext cx="6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45"/>
            <p:cNvSpPr>
              <a:spLocks noChangeArrowheads="1"/>
            </p:cNvSpPr>
            <p:nvPr/>
          </p:nvSpPr>
          <p:spPr bwMode="auto">
            <a:xfrm rot="16200000">
              <a:off x="1333" y="2029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 rot="16200000">
              <a:off x="1333" y="1985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q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47"/>
            <p:cNvSpPr>
              <a:spLocks noChangeArrowheads="1"/>
            </p:cNvSpPr>
            <p:nvPr/>
          </p:nvSpPr>
          <p:spPr bwMode="auto">
            <a:xfrm rot="16200000">
              <a:off x="1333" y="1940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48"/>
            <p:cNvSpPr>
              <a:spLocks noChangeArrowheads="1"/>
            </p:cNvSpPr>
            <p:nvPr/>
          </p:nvSpPr>
          <p:spPr bwMode="auto">
            <a:xfrm rot="16200000">
              <a:off x="1333" y="1896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49"/>
            <p:cNvSpPr>
              <a:spLocks noChangeArrowheads="1"/>
            </p:cNvSpPr>
            <p:nvPr/>
          </p:nvSpPr>
          <p:spPr bwMode="auto">
            <a:xfrm rot="16200000">
              <a:off x="1333" y="1852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50"/>
            <p:cNvSpPr>
              <a:spLocks noChangeArrowheads="1"/>
            </p:cNvSpPr>
            <p:nvPr/>
          </p:nvSpPr>
          <p:spPr bwMode="auto">
            <a:xfrm rot="16200000">
              <a:off x="1335" y="1810"/>
              <a:ext cx="76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51"/>
            <p:cNvSpPr>
              <a:spLocks noChangeArrowheads="1"/>
            </p:cNvSpPr>
            <p:nvPr/>
          </p:nvSpPr>
          <p:spPr bwMode="auto">
            <a:xfrm rot="16200000">
              <a:off x="1335" y="1770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Line 52"/>
            <p:cNvSpPr>
              <a:spLocks noChangeShapeType="1"/>
            </p:cNvSpPr>
            <p:nvPr/>
          </p:nvSpPr>
          <p:spPr bwMode="auto">
            <a:xfrm>
              <a:off x="1547" y="2945"/>
              <a:ext cx="2776" cy="0"/>
            </a:xfrm>
            <a:prstGeom prst="line">
              <a:avLst/>
            </a:pr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53"/>
            <p:cNvSpPr>
              <a:spLocks noChangeArrowheads="1"/>
            </p:cNvSpPr>
            <p:nvPr/>
          </p:nvSpPr>
          <p:spPr bwMode="auto">
            <a:xfrm>
              <a:off x="1962" y="2977"/>
              <a:ext cx="13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No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54"/>
            <p:cNvSpPr>
              <a:spLocks noChangeArrowheads="1"/>
            </p:cNvSpPr>
            <p:nvPr/>
          </p:nvSpPr>
          <p:spPr bwMode="auto">
            <a:xfrm>
              <a:off x="2870" y="2977"/>
              <a:ext cx="17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Yes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55"/>
            <p:cNvSpPr>
              <a:spLocks noChangeArrowheads="1"/>
            </p:cNvSpPr>
            <p:nvPr/>
          </p:nvSpPr>
          <p:spPr bwMode="auto">
            <a:xfrm>
              <a:off x="3834" y="2977"/>
              <a:ext cx="8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7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56"/>
            <p:cNvSpPr>
              <a:spLocks noChangeArrowheads="1"/>
            </p:cNvSpPr>
            <p:nvPr/>
          </p:nvSpPr>
          <p:spPr bwMode="auto">
            <a:xfrm>
              <a:off x="2310" y="934"/>
              <a:ext cx="1288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Household has electricity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5564035" y="2253099"/>
            <a:ext cx="33626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r>
              <a:rPr lang="en-US" sz="1000" dirty="0"/>
              <a:t>  Household |</a:t>
            </a:r>
          </a:p>
          <a:p>
            <a:r>
              <a:rPr lang="en-US" sz="1000" dirty="0"/>
              <a:t>        has |</a:t>
            </a:r>
          </a:p>
          <a:p>
            <a:r>
              <a:rPr lang="en-US" sz="1000" dirty="0"/>
              <a:t>electricity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   No |        402        1.34        1.34</a:t>
            </a:r>
          </a:p>
          <a:p>
            <a:r>
              <a:rPr lang="en-US" sz="1000" dirty="0"/>
              <a:t>        Yes |     27,546       91.58       92.92</a:t>
            </a:r>
          </a:p>
          <a:p>
            <a:r>
              <a:rPr lang="en-US" sz="1000" dirty="0"/>
              <a:t>          7 |      2,130        7.08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30,078      100.00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9575" y="1551399"/>
            <a:ext cx="3437092" cy="3286125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665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Household 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v025 · v119 · v121 · v151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060704"/>
            <a:ext cx="5030005" cy="36569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3961" y="2074608"/>
            <a:ext cx="330283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000" dirty="0"/>
              <a:t>Household |</a:t>
            </a:r>
          </a:p>
          <a:p>
            <a:r>
              <a:rPr lang="en-US" sz="1000" dirty="0"/>
              <a:t>        has |</a:t>
            </a:r>
          </a:p>
          <a:p>
            <a:r>
              <a:rPr lang="en-US" sz="1000" dirty="0"/>
              <a:t> television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   No |     12,969       43.12       43.12</a:t>
            </a:r>
          </a:p>
          <a:p>
            <a:r>
              <a:rPr lang="en-US" sz="1000" dirty="0"/>
              <a:t>        Yes |     14,979       49.80       92.92</a:t>
            </a:r>
          </a:p>
          <a:p>
            <a:r>
              <a:rPr lang="en-US" sz="1000" dirty="0"/>
              <a:t>          7 |      2,130        7.08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30,078      100.00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303" y="1543665"/>
            <a:ext cx="3205316" cy="317396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52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046720" cy="2468880"/>
          </a:xfrm>
          <a:prstGeom prst="roundRect">
            <a:avLst>
              <a:gd name="adj" fmla="val 5556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Socioeconomic Indicators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Education · Wealth index · Internet use · Land ownership · Division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Household Characteristics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v025 · v119 · v121 · v151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700" y="1205401"/>
            <a:ext cx="5030005" cy="36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494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Education &amp; Wealth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v106 — Highest educational level  ·  v190 — Wealth index combined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299757"/>
            <a:ext cx="5030005" cy="36569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4297" y="2253487"/>
            <a:ext cx="33224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pPr algn="just"/>
            <a:r>
              <a:rPr lang="en-US" sz="1000" dirty="0"/>
              <a:t>     Highest </a:t>
            </a:r>
            <a:r>
              <a:rPr lang="en-US" sz="1000" dirty="0" smtClean="0"/>
              <a:t>|</a:t>
            </a:r>
          </a:p>
          <a:p>
            <a:pPr algn="just"/>
            <a:r>
              <a:rPr lang="en-US" sz="1000" dirty="0" smtClean="0"/>
              <a:t>educational </a:t>
            </a:r>
            <a:r>
              <a:rPr lang="en-US" sz="1000" dirty="0"/>
              <a:t>|</a:t>
            </a:r>
          </a:p>
          <a:p>
            <a:pPr algn="just"/>
            <a:r>
              <a:rPr lang="en-US" sz="1000" dirty="0"/>
              <a:t>       level |     </a:t>
            </a:r>
            <a:r>
              <a:rPr lang="en-US" sz="1000" dirty="0" smtClean="0"/>
              <a:t>	 </a:t>
            </a:r>
            <a:r>
              <a:rPr lang="en-US" sz="1000" dirty="0"/>
              <a:t>Freq.     Percent        Cum.</a:t>
            </a:r>
          </a:p>
          <a:p>
            <a:pPr algn="just"/>
            <a:r>
              <a:rPr lang="en-US" sz="1000" dirty="0"/>
              <a:t>-------------+-----------------------------------</a:t>
            </a:r>
          </a:p>
          <a:p>
            <a:pPr algn="just"/>
            <a:r>
              <a:rPr lang="en-US" sz="1000" dirty="0"/>
              <a:t>No education |      4,167       13.85       13.85</a:t>
            </a:r>
          </a:p>
          <a:p>
            <a:pPr algn="just"/>
            <a:r>
              <a:rPr lang="en-US" sz="1000" dirty="0"/>
              <a:t>     Primary |    </a:t>
            </a:r>
            <a:r>
              <a:rPr lang="en-US" sz="1000" dirty="0" smtClean="0"/>
              <a:t>	  </a:t>
            </a:r>
            <a:r>
              <a:rPr lang="en-US" sz="1000" dirty="0"/>
              <a:t>7,857       26.12       39.98</a:t>
            </a:r>
          </a:p>
          <a:p>
            <a:pPr algn="just"/>
            <a:r>
              <a:rPr lang="en-US" sz="1000" dirty="0"/>
              <a:t>   Secondary |  </a:t>
            </a:r>
            <a:r>
              <a:rPr lang="en-US" sz="1000" dirty="0" smtClean="0"/>
              <a:t>	   </a:t>
            </a:r>
            <a:r>
              <a:rPr lang="en-US" sz="1000" dirty="0"/>
              <a:t>13,613       45.26       85.24</a:t>
            </a:r>
          </a:p>
          <a:p>
            <a:pPr algn="just"/>
            <a:r>
              <a:rPr lang="en-US" sz="1000" dirty="0"/>
              <a:t>      Higher |   </a:t>
            </a:r>
            <a:r>
              <a:rPr lang="en-US" sz="1000" dirty="0" smtClean="0"/>
              <a:t>         </a:t>
            </a:r>
            <a:r>
              <a:rPr lang="en-US" sz="1000" dirty="0"/>
              <a:t>4,441       14.76      100.00</a:t>
            </a:r>
          </a:p>
          <a:p>
            <a:pPr algn="just"/>
            <a:r>
              <a:rPr lang="en-US" sz="1000" dirty="0"/>
              <a:t>-------------+-----------------------------------</a:t>
            </a:r>
          </a:p>
          <a:p>
            <a:pPr algn="just"/>
            <a:r>
              <a:rPr lang="en-US" sz="1000" dirty="0"/>
              <a:t>       Total |     30,078      100.00</a:t>
            </a:r>
          </a:p>
          <a:p>
            <a:endParaRPr lang="en-US" sz="1000" dirty="0"/>
          </a:p>
        </p:txBody>
      </p:sp>
      <p:sp>
        <p:nvSpPr>
          <p:cNvPr id="14" name="Shape 3"/>
          <p:cNvSpPr/>
          <p:nvPr/>
        </p:nvSpPr>
        <p:spPr>
          <a:xfrm>
            <a:off x="334297" y="1345142"/>
            <a:ext cx="3018503" cy="3566160"/>
          </a:xfrm>
          <a:prstGeom prst="roundRect">
            <a:avLst>
              <a:gd name="adj" fmla="val 2564"/>
            </a:avLst>
          </a:prstGeom>
          <a:noFill/>
          <a:ln w="12700">
            <a:solidFill>
              <a:srgbClr val="B0BEC5"/>
            </a:solidFill>
            <a:prstDash val="dash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Internet Use &amp; Land Ownership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v171a — Internet use  ·  v745b — Owns land alone or jointly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3556"/>
            <a:ext cx="6341806" cy="36569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3987" y="1313556"/>
            <a:ext cx="2782529" cy="36569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  <a:p>
            <a:pPr algn="ctr"/>
            <a:r>
              <a:rPr lang="en-US" sz="1000" dirty="0"/>
              <a:t>   Owns land |</a:t>
            </a:r>
          </a:p>
          <a:p>
            <a:pPr algn="ctr"/>
            <a:r>
              <a:rPr lang="en-US" sz="1000" dirty="0"/>
              <a:t>    alone or |</a:t>
            </a:r>
          </a:p>
          <a:p>
            <a:pPr algn="ctr"/>
            <a:r>
              <a:rPr lang="en-US" sz="1000" dirty="0"/>
              <a:t>     jointly |      Freq.     Percent        Cum.</a:t>
            </a:r>
          </a:p>
          <a:p>
            <a:pPr algn="ctr"/>
            <a:r>
              <a:rPr lang="en-US" sz="1000" dirty="0"/>
              <a:t>-------------+-----------------------------------</a:t>
            </a:r>
          </a:p>
          <a:p>
            <a:pPr algn="ctr"/>
            <a:r>
              <a:rPr lang="en-US" sz="1000" dirty="0"/>
              <a:t>Does not own |     19,088       95.50       95.50</a:t>
            </a:r>
          </a:p>
          <a:p>
            <a:pPr algn="ctr"/>
            <a:r>
              <a:rPr lang="en-US" sz="1000" dirty="0"/>
              <a:t>  Owns alone |        641        3.21       98.71</a:t>
            </a:r>
          </a:p>
          <a:p>
            <a:pPr algn="ctr"/>
            <a:r>
              <a:rPr lang="en-US" sz="1000" dirty="0"/>
              <a:t>Owns jointly |        159        0.80       99.50</a:t>
            </a:r>
          </a:p>
          <a:p>
            <a:pPr algn="ctr"/>
            <a:r>
              <a:rPr lang="en-US" sz="1000" dirty="0"/>
              <a:t>           3 |         48        0.24       99.74</a:t>
            </a:r>
          </a:p>
          <a:p>
            <a:pPr algn="ctr"/>
            <a:r>
              <a:rPr lang="en-US" sz="1000" dirty="0"/>
              <a:t>           4 |         27        0.14       99.88</a:t>
            </a:r>
          </a:p>
          <a:p>
            <a:pPr algn="ctr"/>
            <a:r>
              <a:rPr lang="en-US" sz="1000" dirty="0"/>
              <a:t>           5 |         24        0.12      100.00</a:t>
            </a:r>
          </a:p>
          <a:p>
            <a:pPr algn="ctr"/>
            <a:r>
              <a:rPr lang="en-US" sz="1000" dirty="0"/>
              <a:t>-------------+-----------------------------------</a:t>
            </a:r>
          </a:p>
          <a:p>
            <a:pPr algn="ctr"/>
            <a:r>
              <a:rPr lang="en-US" sz="1000" dirty="0"/>
              <a:t>       Total |     19,987      100.00</a:t>
            </a:r>
          </a:p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Education &amp; Wealth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v106 — Highest educational level  ·  v190 — Wealth index combined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244730"/>
            <a:ext cx="5030005" cy="365693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211395" y="1492520"/>
            <a:ext cx="3416709" cy="31613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Box 13"/>
          <p:cNvSpPr txBox="1"/>
          <p:nvPr/>
        </p:nvSpPr>
        <p:spPr>
          <a:xfrm>
            <a:off x="644013" y="2062792"/>
            <a:ext cx="34167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 Wealth |</a:t>
            </a:r>
          </a:p>
          <a:p>
            <a:r>
              <a:rPr lang="en-US" sz="1000" dirty="0"/>
              <a:t>      index |</a:t>
            </a:r>
          </a:p>
          <a:p>
            <a:r>
              <a:rPr lang="en-US" sz="1000" dirty="0"/>
              <a:t>   combined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Poorest |      5,559       18.48       18.48</a:t>
            </a:r>
          </a:p>
          <a:p>
            <a:r>
              <a:rPr lang="en-US" sz="1000" dirty="0"/>
              <a:t>     Poorer |      5,855       19.47       37.95</a:t>
            </a:r>
          </a:p>
          <a:p>
            <a:r>
              <a:rPr lang="en-US" sz="1000" dirty="0"/>
              <a:t>     Middle |      5,926       19.70       57.65</a:t>
            </a:r>
          </a:p>
          <a:p>
            <a:r>
              <a:rPr lang="en-US" sz="1000" dirty="0"/>
              <a:t>     Richer |      6,168       20.51       78.16</a:t>
            </a:r>
          </a:p>
          <a:p>
            <a:r>
              <a:rPr lang="en-US" sz="1000" dirty="0"/>
              <a:t>    Richest |      6,570       21.84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30,078      100.00</a:t>
            </a:r>
          </a:p>
        </p:txBody>
      </p:sp>
    </p:spTree>
    <p:extLst>
      <p:ext uri="{BB962C8B-B14F-4D97-AF65-F5344CB8AC3E}">
        <p14:creationId xmlns:p14="http://schemas.microsoft.com/office/powerpoint/2010/main" val="802009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Geographic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v024 — </a:t>
            </a:r>
            <a:r>
              <a:rPr lang="en-US" sz="1100" dirty="0" smtClean="0">
                <a:solidFill>
                  <a:srgbClr val="64748B"/>
                </a:solidFill>
              </a:rPr>
              <a:t>Division		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5030005" cy="3656930"/>
          </a:xfrm>
          <a:prstGeom prst="rect">
            <a:avLst/>
          </a:prstGeom>
        </p:spPr>
      </p:pic>
      <p:sp>
        <p:nvSpPr>
          <p:cNvPr id="24" name="Shape 3"/>
          <p:cNvSpPr/>
          <p:nvPr/>
        </p:nvSpPr>
        <p:spPr>
          <a:xfrm>
            <a:off x="5595358" y="1143000"/>
            <a:ext cx="3002212" cy="3566160"/>
          </a:xfrm>
          <a:prstGeom prst="roundRect">
            <a:avLst>
              <a:gd name="adj" fmla="val 2564"/>
            </a:avLst>
          </a:prstGeom>
          <a:solidFill>
            <a:srgbClr val="E8EEF6"/>
          </a:solidFill>
          <a:ln w="12700">
            <a:solidFill>
              <a:srgbClr val="B0BEC5"/>
            </a:solidFill>
            <a:prstDash val="dash"/>
          </a:ln>
        </p:spPr>
      </p:sp>
      <p:sp>
        <p:nvSpPr>
          <p:cNvPr id="25" name="TextBox 24"/>
          <p:cNvSpPr txBox="1"/>
          <p:nvPr/>
        </p:nvSpPr>
        <p:spPr>
          <a:xfrm>
            <a:off x="5654352" y="1775673"/>
            <a:ext cx="36289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r>
              <a:rPr lang="en-US" sz="1000" dirty="0"/>
              <a:t>   Division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Barisal |      3,232       10.75       </a:t>
            </a:r>
            <a:r>
              <a:rPr lang="en-US" sz="1000" dirty="0" smtClean="0"/>
              <a:t>10.75</a:t>
            </a:r>
          </a:p>
          <a:p>
            <a:r>
              <a:rPr lang="en-US" sz="1000" dirty="0" smtClean="0"/>
              <a:t>Chittagong |   </a:t>
            </a:r>
            <a:r>
              <a:rPr lang="en-US" sz="1000" dirty="0"/>
              <a:t>4,461       14.83       25.58</a:t>
            </a:r>
          </a:p>
          <a:p>
            <a:r>
              <a:rPr lang="en-US" sz="1000" dirty="0"/>
              <a:t>      Dhaka |      4,554       15.14       40.72</a:t>
            </a:r>
          </a:p>
          <a:p>
            <a:r>
              <a:rPr lang="en-US" sz="1000" dirty="0"/>
              <a:t>     Khulna |      3,928       13.06       53.78</a:t>
            </a:r>
          </a:p>
          <a:p>
            <a:r>
              <a:rPr lang="en-US" sz="1000" dirty="0"/>
              <a:t> </a:t>
            </a:r>
            <a:r>
              <a:rPr lang="en-US" sz="1000" dirty="0" err="1"/>
              <a:t>Mymensingh</a:t>
            </a:r>
            <a:r>
              <a:rPr lang="en-US" sz="1000" dirty="0"/>
              <a:t> </a:t>
            </a:r>
            <a:r>
              <a:rPr lang="en-US" sz="1000" dirty="0" smtClean="0"/>
              <a:t>|3,255       </a:t>
            </a:r>
            <a:r>
              <a:rPr lang="en-US" sz="1000" dirty="0"/>
              <a:t>10.82       64.60</a:t>
            </a:r>
          </a:p>
          <a:p>
            <a:r>
              <a:rPr lang="en-US" sz="1000" dirty="0"/>
              <a:t>   </a:t>
            </a:r>
            <a:r>
              <a:rPr lang="en-US" sz="1000" dirty="0" err="1"/>
              <a:t>Rajshahi</a:t>
            </a:r>
            <a:r>
              <a:rPr lang="en-US" sz="1000" dirty="0"/>
              <a:t> |     </a:t>
            </a:r>
            <a:r>
              <a:rPr lang="en-US" sz="1000" dirty="0" smtClean="0"/>
              <a:t>3,816       </a:t>
            </a:r>
            <a:r>
              <a:rPr lang="en-US" sz="1000" dirty="0"/>
              <a:t>12.69       77.29</a:t>
            </a:r>
          </a:p>
          <a:p>
            <a:r>
              <a:rPr lang="en-US" sz="1000" dirty="0"/>
              <a:t>    Rangpur |   </a:t>
            </a:r>
            <a:r>
              <a:rPr lang="en-US" sz="1000" dirty="0" smtClean="0"/>
              <a:t>3,624       </a:t>
            </a:r>
            <a:r>
              <a:rPr lang="en-US" sz="1000" dirty="0"/>
              <a:t>12.05       89.33</a:t>
            </a:r>
          </a:p>
          <a:p>
            <a:r>
              <a:rPr lang="en-US" sz="1000" dirty="0"/>
              <a:t>     Sylhet |      3,208       10.67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30,078      100.00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Geographic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723" y="1284060"/>
            <a:ext cx="5030005" cy="36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392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Geographic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Rounded Rectangle 5"/>
          <p:cNvSpPr/>
          <p:nvPr/>
        </p:nvSpPr>
        <p:spPr>
          <a:xfrm>
            <a:off x="1209368" y="1188523"/>
            <a:ext cx="7000567" cy="38149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00" dirty="0" smtClean="0"/>
              <a:t>	               </a:t>
            </a:r>
            <a:r>
              <a:rPr lang="en-US" sz="1000" dirty="0"/>
              <a:t>Wealth index combined</a:t>
            </a:r>
          </a:p>
          <a:p>
            <a:pPr algn="just"/>
            <a:r>
              <a:rPr lang="en-US" sz="1000" dirty="0"/>
              <a:t>      Use of internet |   Poorest     Poorer     Middle     Richer    Richest |     Total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               Never |     3,324      3,255      2,997      2,763      1,829 |    14,168 </a:t>
            </a:r>
          </a:p>
          <a:p>
            <a:pPr algn="just"/>
            <a:r>
              <a:rPr lang="en-US" sz="1000" dirty="0"/>
              <a:t>                      |     23.46      22.97      21.15      19.50      12.91 |    100.00 </a:t>
            </a:r>
          </a:p>
          <a:p>
            <a:pPr algn="just"/>
            <a:r>
              <a:rPr lang="en-US" sz="1000" dirty="0"/>
              <a:t>                      |     92.64      83.16      75.13      66.59      42.07 |     70.89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    Almost every day |       248        636        962      1,357      2,496 |     5,699 </a:t>
            </a:r>
          </a:p>
          <a:p>
            <a:pPr algn="just"/>
            <a:r>
              <a:rPr lang="en-US" sz="1000" dirty="0"/>
              <a:t>                      |      4.35      11.16      16.88      23.81      43.80 |    100.00 </a:t>
            </a:r>
          </a:p>
          <a:p>
            <a:pPr algn="just"/>
            <a:r>
              <a:rPr lang="en-US" sz="1000" dirty="0"/>
              <a:t>                      |      6.91      16.25      24.12      32.71      57.42 |     28.51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At least once a week |        16         23         30         29         22 |       120 </a:t>
            </a:r>
          </a:p>
          <a:p>
            <a:pPr algn="just"/>
            <a:r>
              <a:rPr lang="en-US" sz="1000" dirty="0"/>
              <a:t>                      |     13.33      19.17      25.00      24.17      18.33 |    100.00 </a:t>
            </a:r>
          </a:p>
          <a:p>
            <a:pPr algn="just"/>
            <a:r>
              <a:rPr lang="en-US" sz="1000" dirty="0"/>
              <a:t>                      |      0.45       0.59       0.75       0.70       0.51 |      0.60 </a:t>
            </a:r>
          </a:p>
          <a:p>
            <a:pPr algn="just"/>
            <a:r>
              <a:rPr lang="en-US" sz="1000" dirty="0"/>
              <a:t>----------------------+-------------------------------------------------------+----------</a:t>
            </a:r>
          </a:p>
          <a:p>
            <a:pPr algn="just"/>
            <a:r>
              <a:rPr lang="en-US" sz="1000" dirty="0"/>
              <a:t>                Total |     3,588      3,914      3,989      4,149      4,347 |    19,987 </a:t>
            </a:r>
          </a:p>
          <a:p>
            <a:pPr algn="just"/>
            <a:r>
              <a:rPr lang="en-US" sz="1000" dirty="0"/>
              <a:t>                      |     17.95      19.58      19.96      20.76      21.75 |    100.00 </a:t>
            </a:r>
          </a:p>
          <a:p>
            <a:pPr algn="just"/>
            <a:r>
              <a:rPr lang="en-US" sz="1000" dirty="0"/>
              <a:t>                      |    100.00     100.00     100.00     100.00     100.00 |    100.00 </a:t>
            </a:r>
          </a:p>
        </p:txBody>
      </p:sp>
    </p:spTree>
    <p:extLst>
      <p:ext uri="{BB962C8B-B14F-4D97-AF65-F5344CB8AC3E}">
        <p14:creationId xmlns:p14="http://schemas.microsoft.com/office/powerpoint/2010/main" val="34917955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046720" cy="2468880"/>
          </a:xfrm>
          <a:prstGeom prst="roundRect">
            <a:avLst>
              <a:gd name="adj" fmla="val 5556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Women's Health &amp; Nutrition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Self-reported health · Haemoglobin · BMI standard deviation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Self-Reported Health Status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v176 — Self-reported health status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339" y="1215233"/>
            <a:ext cx="5030005" cy="365693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Nutritional Status Indicators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64748B"/>
                </a:solidFill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hw73_1 — BMI SD (WHO)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81" y="1362717"/>
            <a:ext cx="5030005" cy="365693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046720" cy="2468880"/>
          </a:xfrm>
          <a:prstGeom prst="roundRect">
            <a:avLst>
              <a:gd name="adj" fmla="val 5556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Reproductive &amp; Maternal Health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ANC timing · Twins · Live births · Marital status · Employment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Antenatal Care &amp; Marital Status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64748B"/>
                </a:solidFill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v501 — Current marital status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3221"/>
            <a:ext cx="5030005" cy="36569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7205" y="1028421"/>
            <a:ext cx="3509310" cy="36569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  <a:p>
            <a:r>
              <a:rPr lang="en-US" sz="1000" dirty="0"/>
              <a:t>   Current marital status </a:t>
            </a:r>
            <a:r>
              <a:rPr lang="en-US" sz="1000" dirty="0" smtClean="0"/>
              <a:t>|Freq</a:t>
            </a:r>
            <a:r>
              <a:rPr lang="en-US" sz="1000" dirty="0"/>
              <a:t>.     Percent        Cum.</a:t>
            </a:r>
          </a:p>
          <a:p>
            <a:r>
              <a:rPr lang="en-US" sz="1000" dirty="0"/>
              <a:t>--------------------------+-----------------------------------</a:t>
            </a:r>
          </a:p>
          <a:p>
            <a:r>
              <a:rPr lang="en-US" sz="1000" dirty="0"/>
              <a:t>                  Married |     28,537       94.88       94.88</a:t>
            </a:r>
          </a:p>
          <a:p>
            <a:r>
              <a:rPr lang="en-US" sz="1000" dirty="0"/>
              <a:t>                  Widowed |        866        2.88       97.76</a:t>
            </a:r>
          </a:p>
          <a:p>
            <a:r>
              <a:rPr lang="en-US" sz="1000" dirty="0"/>
              <a:t>                 Divorced |        413        1.37       99.13</a:t>
            </a:r>
          </a:p>
          <a:p>
            <a:r>
              <a:rPr lang="en-US" sz="1000" dirty="0"/>
              <a:t>No longer living together |        262        0.87      100.00</a:t>
            </a:r>
          </a:p>
          <a:p>
            <a:r>
              <a:rPr lang="en-US" sz="1000" dirty="0"/>
              <a:t>--------------------------+-----------------------------------</a:t>
            </a:r>
          </a:p>
          <a:p>
            <a:r>
              <a:rPr lang="en-US" sz="1000" dirty="0"/>
              <a:t>                    Total |     30,078      100.00</a:t>
            </a:r>
          </a:p>
          <a:p>
            <a:pPr algn="ctr"/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Antenatal Care &amp; Marital Status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64748B"/>
                </a:solidFill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v501 — Current marital status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26" y="1005840"/>
            <a:ext cx="7988710" cy="38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66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Birth Outcomes &amp; Employment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b0_01 · b15_01 · pidxb_20 · v714a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Insert key finding from cross-tabulation (e.g. ANC timing by wealth quintile,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or education by residence type) — replace with your actual numbers.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195569"/>
            <a:ext cx="5030005" cy="365693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1195569"/>
            <a:ext cx="2993923" cy="36569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 dirty="0"/>
          </a:p>
          <a:p>
            <a:pPr algn="ctr"/>
            <a:r>
              <a:rPr lang="en-US" sz="1000" dirty="0"/>
              <a:t>  Child is twin |      Freq.     Percent        Cum.</a:t>
            </a:r>
          </a:p>
          <a:p>
            <a:pPr algn="ctr"/>
            <a:r>
              <a:rPr lang="en-US" sz="1000" dirty="0"/>
              <a:t>----------------+-----------------------------------</a:t>
            </a:r>
          </a:p>
          <a:p>
            <a:pPr algn="ctr"/>
            <a:r>
              <a:rPr lang="en-US" sz="1000" dirty="0"/>
              <a:t>   Single birth |     26,654       98.96       </a:t>
            </a:r>
            <a:r>
              <a:rPr lang="en-US" sz="1000" dirty="0" smtClean="0"/>
              <a:t>98.96</a:t>
            </a:r>
          </a:p>
          <a:p>
            <a:pPr algn="ctr"/>
            <a:r>
              <a:rPr lang="en-US" sz="1000" dirty="0" smtClean="0"/>
              <a:t>Second </a:t>
            </a:r>
            <a:r>
              <a:rPr lang="en-US" sz="1000" dirty="0"/>
              <a:t>of twins </a:t>
            </a:r>
            <a:r>
              <a:rPr lang="en-US" sz="1000" dirty="0" smtClean="0"/>
              <a:t>| </a:t>
            </a:r>
            <a:r>
              <a:rPr lang="en-US" sz="1000" dirty="0"/>
              <a:t>277        1.03       99.99</a:t>
            </a:r>
          </a:p>
          <a:p>
            <a:pPr algn="ctr"/>
            <a:r>
              <a:rPr lang="en-US" sz="1000" dirty="0"/>
              <a:t>              3 |          2        0.01      100.00</a:t>
            </a:r>
          </a:p>
          <a:p>
            <a:pPr algn="ctr"/>
            <a:r>
              <a:rPr lang="en-US" sz="1000" dirty="0"/>
              <a:t>----------------+-----------------------------------</a:t>
            </a:r>
          </a:p>
          <a:p>
            <a:pPr algn="ctr"/>
            <a:r>
              <a:rPr lang="en-US" sz="1000" dirty="0"/>
              <a:t>          Total |     26,933      100.00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Birth Outcomes &amp; Employment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b0_01 · b15_01 · pidxb_20 · v714a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8444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Insert key finding from cross-tabulation (e.g. ANC timing by wealth quintile,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or education by residence type) — replace with your actual numbers.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5402"/>
            <a:ext cx="5030005" cy="365693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51871" y="1205402"/>
            <a:ext cx="2934929" cy="36569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000" dirty="0"/>
              <a:t> Live birth |</a:t>
            </a:r>
          </a:p>
          <a:p>
            <a:pPr algn="just"/>
            <a:r>
              <a:rPr lang="en-US" sz="1000" dirty="0"/>
              <a:t> </a:t>
            </a:r>
            <a:r>
              <a:rPr lang="en-US" sz="1000" dirty="0" smtClean="0"/>
              <a:t>  </a:t>
            </a:r>
            <a:r>
              <a:rPr lang="en-US" sz="1000" dirty="0"/>
              <a:t>between |</a:t>
            </a:r>
          </a:p>
          <a:p>
            <a:pPr algn="just"/>
            <a:r>
              <a:rPr lang="en-US" sz="1000" dirty="0"/>
              <a:t>     births |      Freq.     Percent        Cum.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   No |     26,845       99.67       99.67</a:t>
            </a:r>
          </a:p>
          <a:p>
            <a:pPr algn="just"/>
            <a:r>
              <a:rPr lang="en-US" sz="1000" dirty="0"/>
              <a:t>        Yes |         88        0.33      100.00</a:t>
            </a:r>
          </a:p>
          <a:p>
            <a:pPr algn="just"/>
            <a:r>
              <a:rPr lang="en-US" sz="1000" dirty="0"/>
              <a:t>------------+-----------------------------------</a:t>
            </a:r>
          </a:p>
          <a:p>
            <a:pPr algn="just"/>
            <a:r>
              <a:rPr lang="en-US" sz="1000" dirty="0"/>
              <a:t>      Total |     26,933      100.00</a:t>
            </a:r>
          </a:p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483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Birth Outcomes &amp; Employment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b0_01 · b15_01 · pidxb_20 · v714a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060704"/>
            <a:ext cx="5030005" cy="365693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1258529"/>
            <a:ext cx="3199595" cy="34591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 Respondent |</a:t>
            </a:r>
          </a:p>
          <a:p>
            <a:r>
              <a:rPr lang="en-US" sz="1000" dirty="0"/>
              <a:t>  has a job |</a:t>
            </a:r>
          </a:p>
          <a:p>
            <a:r>
              <a:rPr lang="en-US" sz="1000" dirty="0"/>
              <a:t>        but |</a:t>
            </a:r>
          </a:p>
          <a:p>
            <a:r>
              <a:rPr lang="en-US" sz="1000" dirty="0"/>
              <a:t>  currently |</a:t>
            </a:r>
          </a:p>
          <a:p>
            <a:r>
              <a:rPr lang="en-US" sz="1000" dirty="0"/>
              <a:t>     absent |      Freq.     Percent        Cum.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   No |     13,812       99.62       99.62</a:t>
            </a:r>
          </a:p>
          <a:p>
            <a:r>
              <a:rPr lang="en-US" sz="1000" dirty="0"/>
              <a:t>        Yes |         52        0.38      100.00</a:t>
            </a:r>
          </a:p>
          <a:p>
            <a:r>
              <a:rPr lang="en-US" sz="1000" dirty="0"/>
              <a:t>------------+-----------------------------------</a:t>
            </a:r>
          </a:p>
          <a:p>
            <a:r>
              <a:rPr lang="en-US" sz="1000" dirty="0"/>
              <a:t>      Total |     13,864      100.00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49756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Key Cross-Tabulations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Bivariate relationships between major variables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60704"/>
            <a:ext cx="9143999" cy="365693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Key Cross-Tabulations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Bivariate relationships between major variables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943" y="1060704"/>
            <a:ext cx="3136490" cy="3648456"/>
          </a:xfrm>
          <a:prstGeom prst="roundRect">
            <a:avLst>
              <a:gd name="adj" fmla="val 256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000" dirty="0" smtClean="0"/>
              <a:t> </a:t>
            </a:r>
            <a:r>
              <a:rPr lang="en-US" sz="1000" dirty="0"/>
              <a:t>Highest |   Type of place of</a:t>
            </a:r>
          </a:p>
          <a:p>
            <a:r>
              <a:rPr lang="en-US" sz="1000" dirty="0"/>
              <a:t> educational |       residence</a:t>
            </a:r>
          </a:p>
          <a:p>
            <a:r>
              <a:rPr lang="en-US" sz="1000" dirty="0"/>
              <a:t>       level |     Urban      Rural |     Total</a:t>
            </a:r>
          </a:p>
          <a:p>
            <a:r>
              <a:rPr lang="en-US" sz="1000" dirty="0"/>
              <a:t>-------------+----------------------+----------</a:t>
            </a:r>
          </a:p>
          <a:p>
            <a:r>
              <a:rPr lang="en-US" sz="1000" dirty="0"/>
              <a:t>No education |     1,179      2,988 |     4,167 </a:t>
            </a:r>
          </a:p>
          <a:p>
            <a:r>
              <a:rPr lang="en-US" sz="1000" dirty="0"/>
              <a:t>             |     28.29      71.71 |    100.00 </a:t>
            </a:r>
          </a:p>
          <a:p>
            <a:r>
              <a:rPr lang="en-US" sz="1000" dirty="0"/>
              <a:t>             |     11.15      15.32 |     13.85 </a:t>
            </a:r>
          </a:p>
          <a:p>
            <a:r>
              <a:rPr lang="en-US" sz="1000" dirty="0"/>
              <a:t>-------------+----------------------+----------</a:t>
            </a:r>
          </a:p>
          <a:p>
            <a:r>
              <a:rPr lang="en-US" sz="1000" dirty="0"/>
              <a:t>     Primary |     2,376      5,481 |     7,857 </a:t>
            </a:r>
          </a:p>
          <a:p>
            <a:r>
              <a:rPr lang="en-US" sz="1000" dirty="0"/>
              <a:t>             |     30.24      69.76 |    100.00 </a:t>
            </a:r>
          </a:p>
          <a:p>
            <a:r>
              <a:rPr lang="en-US" sz="1000" dirty="0"/>
              <a:t>             |     22.48      28.10 |     26.12 </a:t>
            </a:r>
          </a:p>
          <a:p>
            <a:r>
              <a:rPr lang="en-US" sz="1000" dirty="0"/>
              <a:t>-------------+----------------------+----------</a:t>
            </a:r>
          </a:p>
          <a:p>
            <a:r>
              <a:rPr lang="en-US" sz="1000" dirty="0"/>
              <a:t>   Secondary |     4,648      8,965 |    13,613 </a:t>
            </a:r>
          </a:p>
          <a:p>
            <a:r>
              <a:rPr lang="en-US" sz="1000" dirty="0"/>
              <a:t>             |     34.14      65.86 |    100.00 </a:t>
            </a:r>
          </a:p>
          <a:p>
            <a:r>
              <a:rPr lang="en-US" sz="1000" dirty="0"/>
              <a:t>             |     43.97      45.96 |     45.26 </a:t>
            </a:r>
          </a:p>
          <a:p>
            <a:r>
              <a:rPr lang="en-US" sz="1000" dirty="0"/>
              <a:t>-------------+----------------------+----------</a:t>
            </a:r>
          </a:p>
          <a:p>
            <a:r>
              <a:rPr lang="en-US" sz="1000" dirty="0"/>
              <a:t>      Higher |     2,368      2,073 |     4,441 </a:t>
            </a:r>
          </a:p>
          <a:p>
            <a:r>
              <a:rPr lang="en-US" sz="1000" dirty="0"/>
              <a:t>             |     53.32      46.68 |    100.00 </a:t>
            </a:r>
          </a:p>
          <a:p>
            <a:r>
              <a:rPr lang="en-US" sz="1000" dirty="0"/>
              <a:t>             |     22.40      10.63 |     14.76 </a:t>
            </a:r>
          </a:p>
          <a:p>
            <a:r>
              <a:rPr lang="en-US" sz="1000" dirty="0"/>
              <a:t>-------------+----------------------+----------</a:t>
            </a:r>
          </a:p>
          <a:p>
            <a:r>
              <a:rPr lang="en-US" sz="1000" dirty="0"/>
              <a:t>       Total |    10,571     19,507 |    30,078 </a:t>
            </a:r>
          </a:p>
          <a:p>
            <a:r>
              <a:rPr lang="en-US" sz="1000" dirty="0"/>
              <a:t>             |     35.15      64.85 |    100.00 </a:t>
            </a:r>
          </a:p>
          <a:p>
            <a:r>
              <a:rPr lang="en-US" sz="1000" dirty="0"/>
              <a:t>             |    100.00     100.00 |    100.00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2232" y="1034845"/>
            <a:ext cx="5024284" cy="38517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 Highest |</a:t>
            </a:r>
          </a:p>
          <a:p>
            <a:pPr algn="ctr"/>
            <a:r>
              <a:rPr lang="en-US" sz="1000" dirty="0"/>
              <a:t> educational |                 Wealth index combined</a:t>
            </a:r>
          </a:p>
          <a:p>
            <a:pPr algn="ctr"/>
            <a:r>
              <a:rPr lang="en-US" sz="1000" dirty="0"/>
              <a:t>       level |   Poorest     Poorer     Middle     Richer    Richest |     Total</a:t>
            </a:r>
          </a:p>
          <a:p>
            <a:pPr algn="ctr"/>
            <a:r>
              <a:rPr lang="en-US" sz="1000" dirty="0"/>
              <a:t>-------------+-------------------------------------------------------+----------</a:t>
            </a:r>
          </a:p>
          <a:p>
            <a:pPr algn="ctr"/>
            <a:r>
              <a:rPr lang="en-US" sz="1000" dirty="0"/>
              <a:t>No education |     1,464      1,034        815        572        282 |     4,167 </a:t>
            </a:r>
          </a:p>
          <a:p>
            <a:pPr algn="ctr"/>
            <a:r>
              <a:rPr lang="en-US" sz="1000" dirty="0"/>
              <a:t>             |     35.13      24.81      19.56      13.73       6.77 |    100.00 </a:t>
            </a:r>
          </a:p>
          <a:p>
            <a:pPr algn="ctr"/>
            <a:r>
              <a:rPr lang="en-US" sz="1000" dirty="0"/>
              <a:t>             |     26.34      17.66      13.75       9.27       4.29 |     13.85 </a:t>
            </a:r>
          </a:p>
          <a:p>
            <a:pPr algn="ctr"/>
            <a:r>
              <a:rPr lang="en-US" sz="1000" dirty="0"/>
              <a:t>-------------+-------------------------------------------------------+----------</a:t>
            </a:r>
          </a:p>
          <a:p>
            <a:pPr algn="ctr"/>
            <a:r>
              <a:rPr lang="en-US" sz="1000" dirty="0"/>
              <a:t>     Primary |     2,112      1,884      1,631      1,462        768 |     7,857 </a:t>
            </a:r>
          </a:p>
          <a:p>
            <a:pPr algn="ctr"/>
            <a:r>
              <a:rPr lang="en-US" sz="1000" dirty="0"/>
              <a:t>             |     26.88      23.98      20.76      18.61       9.77 |    100.00 </a:t>
            </a:r>
          </a:p>
          <a:p>
            <a:pPr algn="ctr"/>
            <a:r>
              <a:rPr lang="en-US" sz="1000" dirty="0"/>
              <a:t>             |     37.99      32.18      27.52      23.70      11.69 |     26.12 </a:t>
            </a:r>
          </a:p>
          <a:p>
            <a:pPr algn="ctr"/>
            <a:r>
              <a:rPr lang="en-US" sz="1000" dirty="0"/>
              <a:t>-------------+-------------------------------------------------------+----------</a:t>
            </a:r>
          </a:p>
          <a:p>
            <a:pPr algn="ctr"/>
            <a:r>
              <a:rPr lang="en-US" sz="1000" dirty="0"/>
              <a:t>   Secondary |     1,845      2,579      2,874      3,197      3,118 |    13,613 </a:t>
            </a:r>
          </a:p>
          <a:p>
            <a:pPr algn="ctr"/>
            <a:r>
              <a:rPr lang="en-US" sz="1000" dirty="0"/>
              <a:t>             |     13.55      18.95      21.11      23.48      22.90 |    100.00 </a:t>
            </a:r>
          </a:p>
          <a:p>
            <a:pPr algn="ctr"/>
            <a:r>
              <a:rPr lang="en-US" sz="1000" dirty="0"/>
              <a:t>             |     33.19      44.05      48.50      51.83      47.46 |     45.26 </a:t>
            </a:r>
          </a:p>
          <a:p>
            <a:pPr algn="ctr"/>
            <a:r>
              <a:rPr lang="en-US" sz="1000" dirty="0"/>
              <a:t>-------------+-------------------------------------------------------+----------</a:t>
            </a:r>
          </a:p>
          <a:p>
            <a:pPr algn="ctr"/>
            <a:r>
              <a:rPr lang="en-US" sz="1000" dirty="0"/>
              <a:t>      Higher |       138        358        606        937      2,402 |     4,441 </a:t>
            </a:r>
          </a:p>
          <a:p>
            <a:pPr algn="ctr"/>
            <a:r>
              <a:rPr lang="en-US" sz="1000" dirty="0"/>
              <a:t>             |      3.11       8.06      13.65      21.10      54.09 |    100.00 </a:t>
            </a:r>
          </a:p>
          <a:p>
            <a:pPr algn="ctr"/>
            <a:r>
              <a:rPr lang="en-US" sz="1000" dirty="0"/>
              <a:t>             |      2.48       6.11      10.23      15.19      36.56 |     14.76 </a:t>
            </a:r>
          </a:p>
          <a:p>
            <a:pPr algn="ctr"/>
            <a:r>
              <a:rPr lang="en-US" sz="1000" dirty="0"/>
              <a:t>-------------+-------------------------------------------------------+----------</a:t>
            </a:r>
          </a:p>
          <a:p>
            <a:pPr algn="ctr"/>
            <a:r>
              <a:rPr lang="en-US" sz="1000" dirty="0"/>
              <a:t>       Total |     5,559      5,855      5,926      6,168      6,570 |    30,078 </a:t>
            </a:r>
          </a:p>
          <a:p>
            <a:pPr algn="ctr"/>
            <a:r>
              <a:rPr lang="en-US" sz="1000" dirty="0"/>
              <a:t>             |     18.48      19.47      19.70      20.51      21.84 |    100.00 </a:t>
            </a:r>
          </a:p>
          <a:p>
            <a:pPr algn="ctr"/>
            <a:r>
              <a:rPr lang="en-US" sz="1000" dirty="0"/>
              <a:t>             |    100.00     100.00     100.00     100.00     100.00 |    100.00 </a:t>
            </a:r>
          </a:p>
        </p:txBody>
      </p:sp>
    </p:spTree>
    <p:extLst>
      <p:ext uri="{BB962C8B-B14F-4D97-AF65-F5344CB8AC3E}">
        <p14:creationId xmlns:p14="http://schemas.microsoft.com/office/powerpoint/2010/main" val="37406685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Key Cross-Tabulations</a:t>
            </a:r>
            <a:endParaRPr lang="en-US" sz="22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795" y="1136576"/>
            <a:ext cx="5030005" cy="3656930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388373" y="452628"/>
            <a:ext cx="2787445" cy="3681394"/>
          </a:xfrm>
          <a:prstGeom prst="roundRect">
            <a:avLst>
              <a:gd name="adj" fmla="val 2564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 Wealth |   Type of place of</a:t>
            </a:r>
          </a:p>
          <a:p>
            <a:r>
              <a:rPr lang="en-US" sz="1000" dirty="0"/>
              <a:t>     index |       residence</a:t>
            </a:r>
          </a:p>
          <a:p>
            <a:r>
              <a:rPr lang="en-US" sz="1000" dirty="0"/>
              <a:t>  combined |     Urban      Rural |     Total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Poorest |       609      4,950 |     5,559 </a:t>
            </a:r>
          </a:p>
          <a:p>
            <a:r>
              <a:rPr lang="en-US" sz="1000" dirty="0"/>
              <a:t>           |     10.96      89.04 |    100.00 </a:t>
            </a:r>
          </a:p>
          <a:p>
            <a:r>
              <a:rPr lang="en-US" sz="1000" dirty="0"/>
              <a:t>           |      5.76      25.38 |     18.48 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 Poorer |     1,116      4,739 |     5,855 </a:t>
            </a:r>
          </a:p>
          <a:p>
            <a:r>
              <a:rPr lang="en-US" sz="1000" dirty="0"/>
              <a:t>           |     19.06      80.94 |    100.00 </a:t>
            </a:r>
          </a:p>
          <a:p>
            <a:r>
              <a:rPr lang="en-US" sz="1000" dirty="0"/>
              <a:t>           |     10.56      24.29 |     19.47 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 Middle |     1,801      4,125 |     5,926 </a:t>
            </a:r>
          </a:p>
          <a:p>
            <a:r>
              <a:rPr lang="en-US" sz="1000" dirty="0"/>
              <a:t>           |     30.39      69.61 |    100.00 </a:t>
            </a:r>
          </a:p>
          <a:p>
            <a:r>
              <a:rPr lang="en-US" sz="1000" dirty="0"/>
              <a:t>           |     17.04      21.15 |     19.70 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 Richer |     2,734      3,434 |     6,168 </a:t>
            </a:r>
          </a:p>
          <a:p>
            <a:r>
              <a:rPr lang="en-US" sz="1000" dirty="0"/>
              <a:t>           |     44.33      55.67 |    100.00 </a:t>
            </a:r>
          </a:p>
          <a:p>
            <a:r>
              <a:rPr lang="en-US" sz="1000" dirty="0"/>
              <a:t>           |     25.86      17.60 |     20.51 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Richest |     4,311      2,259 |     6,570 </a:t>
            </a:r>
          </a:p>
          <a:p>
            <a:r>
              <a:rPr lang="en-US" sz="1000" dirty="0"/>
              <a:t>           |     65.62      34.38 |    100.00 </a:t>
            </a:r>
          </a:p>
          <a:p>
            <a:r>
              <a:rPr lang="en-US" sz="1000" dirty="0"/>
              <a:t>           |     40.78      11.58 |     21.84 </a:t>
            </a:r>
          </a:p>
          <a:p>
            <a:r>
              <a:rPr lang="en-US" sz="1000" dirty="0"/>
              <a:t>-----------+----------------------+----------</a:t>
            </a:r>
          </a:p>
          <a:p>
            <a:r>
              <a:rPr lang="en-US" sz="1000" dirty="0"/>
              <a:t>     Total |    10,571     19,507 |    30,078 </a:t>
            </a:r>
          </a:p>
          <a:p>
            <a:r>
              <a:rPr lang="en-US" sz="1000" dirty="0"/>
              <a:t>           |     35.15      64.85 |    100.00 </a:t>
            </a:r>
          </a:p>
          <a:p>
            <a:r>
              <a:rPr lang="en-US" sz="1000" dirty="0"/>
              <a:t>           |    100.00     100.00 |    100.00 </a:t>
            </a:r>
          </a:p>
        </p:txBody>
      </p:sp>
    </p:spTree>
    <p:extLst>
      <p:ext uri="{BB962C8B-B14F-4D97-AF65-F5344CB8AC3E}">
        <p14:creationId xmlns:p14="http://schemas.microsoft.com/office/powerpoint/2010/main" val="19847524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8046720" cy="2468880"/>
          </a:xfrm>
          <a:prstGeom prst="roundRect">
            <a:avLst>
              <a:gd name="adj" fmla="val 5556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2C39A"/>
                </a:solidFill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 &amp; Key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What the data tells us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Key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Replace placeholder text with your actual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16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Education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X% have no formal education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606040"/>
            <a:ext cx="320040" cy="320040"/>
          </a:xfrm>
          <a:prstGeom prst="ellipse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51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Wealth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898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distribution across quintiles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3840480"/>
            <a:ext cx="320040" cy="3200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856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Health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1330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X% reported poor health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1371600"/>
            <a:ext cx="320040" cy="3200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316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ANC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1664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mean 1st visit at X months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260604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551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Internet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8986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X% never use internet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3840480"/>
            <a:ext cx="320040" cy="3200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7856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40"/>
                </a:solidFill>
              </a:rPr>
              <a:t>Land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41330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Describe pattern found — e.g. X% own land jointly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5E"/>
                </a:solidFill>
              </a:rPr>
              <a:t>Limitations &amp;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Considerations for interpreting the findings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D40"/>
                </a:solidFill>
              </a:rPr>
              <a:t>Cross-sectional design — no causal inference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D40"/>
                </a:solidFill>
              </a:rPr>
              <a:t>Self-reported variables may have recall bias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998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D40"/>
                </a:solidFill>
              </a:rPr>
              <a:t>Missing data for some indicators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D40"/>
                </a:solidFill>
              </a:rPr>
              <a:t>Add your specific limitations here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B2F5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Further multivariate analysis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414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Policy focus on education-wealth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0998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Improve ANC coverage in rural areas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7581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Add your specific recommendations here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2C39A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777240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93C4"/>
                </a:solidFill>
              </a:rPr>
              <a:t>[Your Name]  ·  [Institution]  ·  [Email]  ·  [Year]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080"/>
                </a:solidFill>
              </a:rPr>
              <a:t>Data source: Demographic and Health Survey (DHS)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6594</Words>
  <Application>Microsoft Office PowerPoint</Application>
  <PresentationFormat>On-screen Show (16:9)</PresentationFormat>
  <Paragraphs>1376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DHS Survey Analysis</dc:title>
  <dc:subject>PptxGenJS Presentation</dc:subject>
  <dc:creator>PptxGenJS</dc:creator>
  <cp:lastModifiedBy>hp</cp:lastModifiedBy>
  <cp:revision>24</cp:revision>
  <dcterms:created xsi:type="dcterms:W3CDTF">2026-06-20T16:06:44Z</dcterms:created>
  <dcterms:modified xsi:type="dcterms:W3CDTF">2026-07-02T05:24:00Z</dcterms:modified>
</cp:coreProperties>
</file>